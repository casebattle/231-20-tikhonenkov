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omments/comment1.xml" ContentType="application/vnd.openxmlformats-officedocument.presentationml.comments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75" r:id="rId10"/>
    <p:sldId id="262" r:id="rId11"/>
    <p:sldId id="263" r:id="rId12"/>
    <p:sldId id="264" r:id="rId13"/>
    <p:sldId id="269" r:id="rId14"/>
    <p:sldId id="270" r:id="rId15"/>
    <p:sldId id="271" r:id="rId16"/>
    <p:sldId id="272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икита Тихоненков" initials="НТ" lastIdx="1" clrIdx="0">
    <p:extLst>
      <p:ext uri="{19B8F6BF-5375-455C-9EA6-DF929625EA0E}">
        <p15:presenceInfo xmlns:p15="http://schemas.microsoft.com/office/powerpoint/2012/main" userId="829f3e49429fa0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CF0"/>
    <a:srgbClr val="418A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8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8:47:31.399" idx="1">
    <p:pos x="7582" y="87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A742F-06BB-4F49-82EA-40B155807A8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02A38-2D17-4211-9F43-FFE5923202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56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02A38-2D17-4211-9F43-FFE5923202C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55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30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48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1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139295C-1C7B-4648-87F0-42E1ABBAE4B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3417987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Курсовая работа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МДК 11.01 Технология разработки и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защиты баз данных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База данных аренды жилья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BF1417-9BD1-41FB-B001-214A78435DBC}"/>
              </a:ext>
            </a:extLst>
          </p:cNvPr>
          <p:cNvSpPr txBox="1">
            <a:spLocks/>
          </p:cNvSpPr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l">
              <a:lnSpc>
                <a:spcPct val="15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 спец. Дисциплин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09.02.07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Венедиктов Дмитрий Викторович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520369F-0405-4705-AEC0-6B1E04846B84}"/>
              </a:ext>
            </a:extLst>
          </p:cNvPr>
          <p:cNvSpPr txBox="1">
            <a:spLocks/>
          </p:cNvSpPr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 231с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ТИХОНЕНКОВ Н.А.</a:t>
            </a:r>
          </a:p>
        </p:txBody>
      </p:sp>
    </p:spTree>
    <p:extLst>
      <p:ext uri="{BB962C8B-B14F-4D97-AF65-F5344CB8AC3E}">
        <p14:creationId xmlns:p14="http://schemas.microsoft.com/office/powerpoint/2010/main" val="13258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B9D85-69EC-4E0B-9EC1-01BCECD448D1}"/>
              </a:ext>
            </a:extLst>
          </p:cNvPr>
          <p:cNvSpPr txBox="1"/>
          <p:nvPr/>
        </p:nvSpPr>
        <p:spPr>
          <a:xfrm>
            <a:off x="581890" y="1698171"/>
            <a:ext cx="11085615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Развитие цифровых сервисов повышает спрос на онлайн-платформы аренды недвижимости.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Разработка веб-приложения позволяет упростить поиск и бронирование жилья.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Проект демонстрирует применение современных технологий и имеет практическую значимость, может быть использовано как основа для реального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252836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C013-94FF-446B-A90D-21C2B993491D}"/>
              </a:ext>
            </a:extLst>
          </p:cNvPr>
          <p:cNvSpPr txBox="1"/>
          <p:nvPr/>
        </p:nvSpPr>
        <p:spPr>
          <a:xfrm>
            <a:off x="413656" y="1537854"/>
            <a:ext cx="118811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Цель: </a:t>
            </a: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Проектирование базы данных аренды жилья и разработка веб-приложения для работы с ней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500D8-FF0E-4FDB-A845-CAFD30C4EEB3}"/>
              </a:ext>
            </a:extLst>
          </p:cNvPr>
          <p:cNvSpPr txBox="1"/>
          <p:nvPr/>
        </p:nvSpPr>
        <p:spPr>
          <a:xfrm>
            <a:off x="413656" y="2707405"/>
            <a:ext cx="11447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Задачи: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Анализ предметной области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Спроектировать логическую и физическую структуру базы </a:t>
            </a:r>
            <a:r>
              <a:rPr lang="ru-RU" sz="2000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данны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Разработка </a:t>
            </a:r>
            <a:r>
              <a:rPr lang="ru-RU" sz="2000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фронтенда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Разработка бэкенда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Тестирование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92112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7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C150D75E-7173-4FEE-833F-D98513D5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719721"/>
              </p:ext>
            </p:extLst>
          </p:nvPr>
        </p:nvGraphicFramePr>
        <p:xfrm>
          <a:off x="444137" y="1515291"/>
          <a:ext cx="11303726" cy="32614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51863">
                  <a:extLst>
                    <a:ext uri="{9D8B030D-6E8A-4147-A177-3AD203B41FA5}">
                      <a16:colId xmlns:a16="http://schemas.microsoft.com/office/drawing/2014/main" val="106229650"/>
                    </a:ext>
                  </a:extLst>
                </a:gridCol>
                <a:gridCol w="5651863">
                  <a:extLst>
                    <a:ext uri="{9D8B030D-6E8A-4147-A177-3AD203B41FA5}">
                      <a16:colId xmlns:a16="http://schemas.microsoft.com/office/drawing/2014/main" val="2641200455"/>
                    </a:ext>
                  </a:extLst>
                </a:gridCol>
              </a:tblGrid>
              <a:tr h="61392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b="1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сервис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CC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ДОСТОИНСТВА И НЕДОСТАТКИ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44516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Avito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Простой интерфейс, большой выбор, но много неактуальных объявлений.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59602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ЦИАН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Проверенные объекты, удобный поиск, но перегруженный интерфейс.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48923"/>
                  </a:ext>
                </a:extLst>
              </a:tr>
              <a:tr h="882520">
                <a:tc>
                  <a:txBody>
                    <a:bodyPr/>
                    <a:lstStyle/>
                    <a:p>
                      <a:r>
                        <a:rPr lang="en-US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Airbnb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Удобный дизайн и бронирование, но ограничен по локальным предложениям.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658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5F0A8F-3C59-4E32-B360-012A91C09A5F}"/>
              </a:ext>
            </a:extLst>
          </p:cNvPr>
          <p:cNvSpPr txBox="1"/>
          <p:nvPr/>
        </p:nvSpPr>
        <p:spPr>
          <a:xfrm>
            <a:off x="2002020" y="4983524"/>
            <a:ext cx="8717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Разрабатываемое приложение ориентировано на упрощённый и понятный интерфейс, структурированное представление объявлений и демонстрацию ключевых функций системы аренды, что делает его удобным для пользователей и наглядным для учебных целей.</a:t>
            </a:r>
          </a:p>
        </p:txBody>
      </p:sp>
    </p:spTree>
    <p:extLst>
      <p:ext uri="{BB962C8B-B14F-4D97-AF65-F5344CB8AC3E}">
        <p14:creationId xmlns:p14="http://schemas.microsoft.com/office/powerpoint/2010/main" val="2142854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08889" y="1397990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4691-853F-4012-BC0A-255B49FF56B0}"/>
              </a:ext>
            </a:extLst>
          </p:cNvPr>
          <p:cNvSpPr txBox="1"/>
          <p:nvPr/>
        </p:nvSpPr>
        <p:spPr>
          <a:xfrm>
            <a:off x="347782" y="1486017"/>
            <a:ext cx="375854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🐬</a:t>
            </a:r>
            <a:r>
              <a:rPr lang="ru-RU" sz="25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MySQL</a:t>
            </a:r>
            <a:endParaRPr lang="ru-RU" sz="2500" cap="all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Высокая производительность, подходит для веб-приложений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Требует сервер и его настройки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EBB3D-31E2-47BA-BFA9-86354F7A859D}"/>
              </a:ext>
            </a:extLst>
          </p:cNvPr>
          <p:cNvSpPr txBox="1"/>
          <p:nvPr/>
        </p:nvSpPr>
        <p:spPr>
          <a:xfrm>
            <a:off x="7656636" y="1397990"/>
            <a:ext cx="44264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🐘</a:t>
            </a:r>
            <a:r>
              <a:rPr lang="ru-RU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м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ощная СУБД, высокая надёжность, расширенные возможности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 Б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олее сложен в настройке и использовании, требует сервер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C8930-105D-4566-9AE7-15F9AB694921}"/>
              </a:ext>
            </a:extLst>
          </p:cNvPr>
          <p:cNvSpPr txBox="1"/>
          <p:nvPr/>
        </p:nvSpPr>
        <p:spPr>
          <a:xfrm>
            <a:off x="3998457" y="2414665"/>
            <a:ext cx="419508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🗄️</a:t>
            </a:r>
            <a:r>
              <a:rPr lang="ru-RU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Встроенная СУБД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Не требует сервера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+ Проста в использовании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95E4BB-293E-4D6D-B295-63925AB3F44C}"/>
              </a:ext>
            </a:extLst>
          </p:cNvPr>
          <p:cNvSpPr txBox="1"/>
          <p:nvPr/>
        </p:nvSpPr>
        <p:spPr>
          <a:xfrm>
            <a:off x="5652655" y="2986644"/>
            <a:ext cx="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A92F4-99DC-41B2-895E-440D57843E97}"/>
              </a:ext>
            </a:extLst>
          </p:cNvPr>
          <p:cNvSpPr txBox="1"/>
          <p:nvPr/>
        </p:nvSpPr>
        <p:spPr>
          <a:xfrm>
            <a:off x="3059826" y="4591480"/>
            <a:ext cx="57081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Выбор: </a:t>
            </a:r>
            <a:r>
              <a:rPr lang="ru-RU" sz="2000" b="1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простота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не требует сервера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подходит для учебного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67027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выбор </a:t>
            </a:r>
            <a:r>
              <a:rPr lang="ru-RU" spc="0">
                <a:latin typeface="Arial" panose="020B0604020202020204" pitchFamily="34" charset="0"/>
                <a:cs typeface="Arial" panose="020B0604020202020204" pitchFamily="34" charset="0"/>
              </a:rPr>
              <a:t>технологий разработки</a:t>
            </a:r>
            <a:endParaRPr lang="ru-RU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1449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B0113-FCBC-4939-97C4-20B953679897}"/>
              </a:ext>
            </a:extLst>
          </p:cNvPr>
          <p:cNvSpPr txBox="1"/>
          <p:nvPr/>
        </p:nvSpPr>
        <p:spPr>
          <a:xfrm>
            <a:off x="261257" y="1381787"/>
            <a:ext cx="1145177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Для серверной части выбрана платформа Node.js, так как она обеспечивает удобную обработку запросов и широко используется в веб-разработке.</a:t>
            </a:r>
          </a:p>
          <a:p>
            <a:endParaRPr lang="ru-RU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Фронтенд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реализован с использованием HTML, CSS и JavaScript, что позволяет создать простой и адаптивный интерфейс.</a:t>
            </a:r>
          </a:p>
          <a:p>
            <a:endParaRPr lang="ru-RU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 качестве инструментов разработки использованы Visual Studio Code для написания кода, DB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Browser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for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для работы с базой данных и </a:t>
            </a:r>
            <a:r>
              <a:rPr lang="ru-R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Figma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для проектирования интерфейса.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58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5955A-9588-4166-B457-66934DF876D0}"/>
              </a:ext>
            </a:extLst>
          </p:cNvPr>
          <p:cNvSpPr txBox="1"/>
          <p:nvPr/>
        </p:nvSpPr>
        <p:spPr>
          <a:xfrm>
            <a:off x="423071" y="5303520"/>
            <a:ext cx="1134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spc="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диаграмма сущностей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системы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и связей между ними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B11DD2-5414-41F6-AEC8-CDD3D88A2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1782020"/>
            <a:ext cx="11345858" cy="329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5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Логическая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2F57C1-6016-4CAD-9D47-99E808989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7" y="1538023"/>
            <a:ext cx="11507806" cy="3781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0BC16-9485-4A4D-9BDC-FAF42E4C2277}"/>
              </a:ext>
            </a:extLst>
          </p:cNvPr>
          <p:cNvSpPr txBox="1"/>
          <p:nvPr/>
        </p:nvSpPr>
        <p:spPr>
          <a:xfrm>
            <a:off x="342097" y="5425440"/>
            <a:ext cx="11507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Логическая модель отражает структуру базы данных, включая таблицы, их атрибуты и связи между сущностями системы аренды жилья.</a:t>
            </a:r>
          </a:p>
        </p:txBody>
      </p:sp>
    </p:spTree>
    <p:extLst>
      <p:ext uri="{BB962C8B-B14F-4D97-AF65-F5344CB8AC3E}">
        <p14:creationId xmlns:p14="http://schemas.microsoft.com/office/powerpoint/2010/main" val="219503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физическая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B8372-74A0-4BC2-8213-A7251DDCBD2A}"/>
              </a:ext>
            </a:extLst>
          </p:cNvPr>
          <p:cNvSpPr txBox="1"/>
          <p:nvPr/>
        </p:nvSpPr>
        <p:spPr>
          <a:xfrm>
            <a:off x="1123406" y="5341552"/>
            <a:ext cx="9945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Представлена физическая модель базы данных, включающая таблицы пользователей и бронирований с указанием атрибутов и типов данных.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D2C414-BE23-4C33-BAA2-8ADBE1EA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07" y="1509590"/>
            <a:ext cx="4506252" cy="31697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32AA27-C876-432F-A0CA-D7A900F67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342" y="1509590"/>
            <a:ext cx="4506252" cy="3169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153221-E659-4ED6-B7FD-ACA2EBA9E463}"/>
              </a:ext>
            </a:extLst>
          </p:cNvPr>
          <p:cNvSpPr txBox="1"/>
          <p:nvPr/>
        </p:nvSpPr>
        <p:spPr>
          <a:xfrm>
            <a:off x="2557925" y="4606519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E8C1C-9B32-4412-8753-F2B32C6217BF}"/>
              </a:ext>
            </a:extLst>
          </p:cNvPr>
          <p:cNvSpPr txBox="1"/>
          <p:nvPr/>
        </p:nvSpPr>
        <p:spPr>
          <a:xfrm>
            <a:off x="7996862" y="4606519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Booking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07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бизнес-логики в базе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CDDCF-3A47-444E-A409-54FFFAB529D7}"/>
              </a:ext>
            </a:extLst>
          </p:cNvPr>
          <p:cNvSpPr txBox="1"/>
          <p:nvPr/>
        </p:nvSpPr>
        <p:spPr>
          <a:xfrm>
            <a:off x="1968137" y="1489473"/>
            <a:ext cx="8255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Ключевые SQL-запросы, реализованные в проекте: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628177AB-FA57-4C45-A14F-C9B3263C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78110"/>
              </p:ext>
            </p:extLst>
          </p:nvPr>
        </p:nvGraphicFramePr>
        <p:xfrm>
          <a:off x="310434" y="2445711"/>
          <a:ext cx="3636554" cy="105173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636554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5173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SELECT * FROM Property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WHERE available = 1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ORDER BY id DESC;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50C444-DB42-4C7F-9B40-0937252C40DA}"/>
              </a:ext>
            </a:extLst>
          </p:cNvPr>
          <p:cNvSpPr txBox="1"/>
          <p:nvPr/>
        </p:nvSpPr>
        <p:spPr>
          <a:xfrm>
            <a:off x="154405" y="3429000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Получение списка доступных объявлений.</a:t>
            </a:r>
          </a:p>
        </p:txBody>
      </p:sp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A0D63DA7-5215-42CB-9C42-BDA3496DA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074474"/>
              </p:ext>
            </p:extLst>
          </p:nvPr>
        </p:nvGraphicFramePr>
        <p:xfrm>
          <a:off x="4533177" y="2451983"/>
          <a:ext cx="7295265" cy="10614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295265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61431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INSERT INTO Property (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landlord_id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title, address, price, available)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VALUES (?, ?, ?, ?, ?);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D60E5F-FD35-4449-B869-5F004628F5D4}"/>
              </a:ext>
            </a:extLst>
          </p:cNvPr>
          <p:cNvSpPr txBox="1"/>
          <p:nvPr/>
        </p:nvSpPr>
        <p:spPr>
          <a:xfrm>
            <a:off x="6284517" y="3447047"/>
            <a:ext cx="379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нового объекта недвижимости через админ-панель.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63B6409B-1896-412D-91E4-E859BF80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02604"/>
              </p:ext>
            </p:extLst>
          </p:nvPr>
        </p:nvGraphicFramePr>
        <p:xfrm>
          <a:off x="1307737" y="4413686"/>
          <a:ext cx="9576527" cy="85060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576527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850604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DELETE FROM Property</a:t>
                      </a:r>
                      <a:b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WHERE id = ?;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AE9445-E4D3-4EDF-8516-43AB41AFE295}"/>
              </a:ext>
            </a:extLst>
          </p:cNvPr>
          <p:cNvSpPr txBox="1"/>
          <p:nvPr/>
        </p:nvSpPr>
        <p:spPr>
          <a:xfrm>
            <a:off x="4199708" y="5199214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Удаление объявления из базы данных</a:t>
            </a:r>
            <a:r>
              <a:rPr lang="ru-RU" sz="1200" dirty="0"/>
              <a:t>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4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51E0C-9449-416C-901A-F2E067B288A1}"/>
              </a:ext>
            </a:extLst>
          </p:cNvPr>
          <p:cNvSpPr txBox="1"/>
          <p:nvPr/>
        </p:nvSpPr>
        <p:spPr>
          <a:xfrm>
            <a:off x="204544" y="2106505"/>
            <a:ext cx="27452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(HTML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JS)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61122-ADBF-4B9B-9282-E8FB3F28D7B6}"/>
              </a:ext>
            </a:extLst>
          </p:cNvPr>
          <p:cNvSpPr txBox="1"/>
          <p:nvPr/>
        </p:nvSpPr>
        <p:spPr>
          <a:xfrm>
            <a:off x="5015163" y="2106505"/>
            <a:ext cx="21616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Node.js)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A87A-8E0E-49EC-BFEA-10AA9396D892}"/>
              </a:ext>
            </a:extLst>
          </p:cNvPr>
          <p:cNvSpPr txBox="1"/>
          <p:nvPr/>
        </p:nvSpPr>
        <p:spPr>
          <a:xfrm>
            <a:off x="9667374" y="2106505"/>
            <a:ext cx="23140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База данных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SQLite)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1AA80D2-C06F-437E-A3EA-7CF2FB503825}"/>
              </a:ext>
            </a:extLst>
          </p:cNvPr>
          <p:cNvCxnSpPr/>
          <p:nvPr/>
        </p:nvCxnSpPr>
        <p:spPr>
          <a:xfrm>
            <a:off x="2949749" y="2552781"/>
            <a:ext cx="2368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5F29C35-BAD5-41F2-8E9C-9B128086498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76837" y="2552781"/>
            <a:ext cx="2490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104A9C-17A4-4320-B2CB-984E894D6802}"/>
              </a:ext>
            </a:extLst>
          </p:cNvPr>
          <p:cNvSpPr txBox="1"/>
          <p:nvPr/>
        </p:nvSpPr>
        <p:spPr>
          <a:xfrm>
            <a:off x="204544" y="3723774"/>
            <a:ext cx="11776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Архитектура веб-приложения построена по клиент-серверной модели, где пользователь взаимодействует с интерфейсом, сервер обрабатывает запросы, а база данных обеспечивает хранение информации.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D471C-24A4-43CA-AC58-46627C13A42A}"/>
              </a:ext>
            </a:extLst>
          </p:cNvPr>
          <p:cNvSpPr txBox="1"/>
          <p:nvPr/>
        </p:nvSpPr>
        <p:spPr>
          <a:xfrm>
            <a:off x="3581410" y="2313615"/>
            <a:ext cx="132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  <a:r>
              <a:rPr lang="ru-RU" sz="1200" dirty="0"/>
              <a:t>	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86EBE-1669-42F2-B36F-B801A630CF42}"/>
              </a:ext>
            </a:extLst>
          </p:cNvPr>
          <p:cNvSpPr txBox="1"/>
          <p:nvPr/>
        </p:nvSpPr>
        <p:spPr>
          <a:xfrm>
            <a:off x="7945857" y="2317167"/>
            <a:ext cx="1168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SQL 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</a:p>
        </p:txBody>
      </p:sp>
    </p:spTree>
    <p:extLst>
      <p:ext uri="{BB962C8B-B14F-4D97-AF65-F5344CB8AC3E}">
        <p14:creationId xmlns:p14="http://schemas.microsoft.com/office/powerpoint/2010/main" val="6888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бэкенд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9BA543-1E04-4D70-BDD4-9CE67BDE2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900" y="2425595"/>
            <a:ext cx="5889354" cy="3296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35BD5D-D0F8-475A-BAA1-28937FA56D8F}"/>
              </a:ext>
            </a:extLst>
          </p:cNvPr>
          <p:cNvSpPr txBox="1"/>
          <p:nvPr/>
        </p:nvSpPr>
        <p:spPr>
          <a:xfrm>
            <a:off x="329746" y="1463040"/>
            <a:ext cx="5269865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Бэкенд реализует API для аутентификации пользователей. При входе пользователь вводит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email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и пароль, которые передаются на сервер для обработки.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Сервер выполняет запрос к базе данных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и проверяет наличие пользователя с указанными данными. В случае успешного совпадения система подтверждает авторизацию.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После входа создаётся пользовательская сессия, которая позволяет сохранять состояние пользователя и предоставлять доступ к защищённым разделам системы, включая административную панель.</a:t>
            </a:r>
          </a:p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Основные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эндпоинты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POST /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login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GET /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POST /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logout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273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Интерфейс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59D6BE-3206-42C1-9594-D9516362A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03" y="1586323"/>
            <a:ext cx="3450712" cy="21554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D4E7C8-13D3-4AA4-A018-4D1430F10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04" y="4175960"/>
            <a:ext cx="3450712" cy="21554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B91248-2CA1-4702-9306-CFB134E35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985" y="4181599"/>
            <a:ext cx="3450712" cy="21498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0E9A36-2884-4043-8D57-7EAAC62D6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986" y="1591962"/>
            <a:ext cx="3450712" cy="21498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9F28CE-2EA7-4249-B28C-418215F8C676}"/>
              </a:ext>
            </a:extLst>
          </p:cNvPr>
          <p:cNvSpPr txBox="1"/>
          <p:nvPr/>
        </p:nvSpPr>
        <p:spPr>
          <a:xfrm>
            <a:off x="1851030" y="3651103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Главная страница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4E0EB-E582-4DF6-B45D-761ACBCD48F1}"/>
              </a:ext>
            </a:extLst>
          </p:cNvPr>
          <p:cNvSpPr txBox="1"/>
          <p:nvPr/>
        </p:nvSpPr>
        <p:spPr>
          <a:xfrm>
            <a:off x="1851030" y="6278214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Окно подачи заявки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8D638-4006-43F0-93CA-94225EBDE257}"/>
              </a:ext>
            </a:extLst>
          </p:cNvPr>
          <p:cNvSpPr txBox="1"/>
          <p:nvPr/>
        </p:nvSpPr>
        <p:spPr>
          <a:xfrm>
            <a:off x="8391684" y="3688577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регистрации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010DA-14A0-4185-A0FF-224AFADF25F7}"/>
              </a:ext>
            </a:extLst>
          </p:cNvPr>
          <p:cNvSpPr txBox="1"/>
          <p:nvPr/>
        </p:nvSpPr>
        <p:spPr>
          <a:xfrm>
            <a:off x="8337712" y="6278213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входа</a:t>
            </a:r>
          </a:p>
        </p:txBody>
      </p:sp>
    </p:spTree>
    <p:extLst>
      <p:ext uri="{BB962C8B-B14F-4D97-AF65-F5344CB8AC3E}">
        <p14:creationId xmlns:p14="http://schemas.microsoft.com/office/powerpoint/2010/main" val="59431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 и защита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08396A9-7DFF-41C9-B9C2-55FE8488A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65725"/>
              </p:ext>
            </p:extLst>
          </p:nvPr>
        </p:nvGraphicFramePr>
        <p:xfrm>
          <a:off x="300800" y="1522776"/>
          <a:ext cx="5558980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Разграничение прав доступа: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Пользователь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просмотр объектов и бронирование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Арендодатель – добавление и управление объектами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Администратор – полный доступ к системе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85717DA-31B6-4EDA-BF6A-9544CB62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24217"/>
              </p:ext>
            </p:extLst>
          </p:nvPr>
        </p:nvGraphicFramePr>
        <p:xfrm>
          <a:off x="6332220" y="1522776"/>
          <a:ext cx="5558980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Резервное копирование: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База данных хранится в формате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SQLite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Выполняется регулярное сохранение копии файла базы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Возможность восстановления данных из резервной копии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857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и оптимизация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738509-CE71-472F-B6A8-E2BE0510DA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99711" y="1510347"/>
            <a:ext cx="4788566" cy="3153000"/>
          </a:xfrm>
          <a:prstGeom prst="rect">
            <a:avLst/>
          </a:prstGeom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7FA69D3-6B2C-40B8-ABC7-BAB81371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99883"/>
              </p:ext>
            </p:extLst>
          </p:nvPr>
        </p:nvGraphicFramePr>
        <p:xfrm>
          <a:off x="284623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411314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Проведено тестирование системы: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регистрации и входа пользователя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добавления и отображения объектов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процесса бронирования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20E0ED83-F2ED-44C7-9CAE-8FB3748D7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11945"/>
              </p:ext>
            </p:extLst>
          </p:nvPr>
        </p:nvGraphicFramePr>
        <p:xfrm>
          <a:off x="8616489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8346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Результаты тестирования: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Все основные функции работают корректно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Ошибки в логике не обнаружены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Система стабильно обрабатывает запросы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A9C52C05-13E5-41C6-B899-18EF86C8C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30883"/>
              </p:ext>
            </p:extLst>
          </p:nvPr>
        </p:nvGraphicFramePr>
        <p:xfrm>
          <a:off x="2792829" y="4972556"/>
          <a:ext cx="6602330" cy="132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233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32013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Оптимизация: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Оптимизированы SQL-запросы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Улучшена скорость обработки данных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Упрощена структура взаимодействия с базой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6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Результаты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Достигнутые результаты: спроектирована и нормализована база данных в </a:t>
            </a:r>
            <a:r>
              <a:rPr lang="en-US" sz="2000" spc="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, создан макет веб-приложения в </a:t>
            </a:r>
            <a:r>
              <a:rPr lang="ru-RU" sz="2000" spc="0" dirty="0" err="1">
                <a:latin typeface="Arial" panose="020B0604020202020204" pitchFamily="34" charset="0"/>
                <a:cs typeface="Arial" panose="020B0604020202020204" pitchFamily="34" charset="0"/>
              </a:rPr>
              <a:t>фигме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, разработано веб-приложение на </a:t>
            </a:r>
            <a:r>
              <a:rPr lang="en-US" sz="2000" spc="0" dirty="0">
                <a:latin typeface="Arial" panose="020B0604020202020204" pitchFamily="34" charset="0"/>
                <a:cs typeface="Arial" panose="020B0604020202020204" pitchFamily="34" charset="0"/>
              </a:rPr>
              <a:t>node.js 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с системой аутентификации, проведено тестирование</a:t>
            </a: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Система может применяться в сервисах аренды жилья; в перспективе — расширение функционала, внедрение онлайн-оплаты и разработка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379536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5802196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Ответы на вопросы комиссии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17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812</Words>
  <Application>Microsoft Office PowerPoint</Application>
  <PresentationFormat>Широкоэкранный</PresentationFormat>
  <Paragraphs>112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Arial</vt:lpstr>
      <vt:lpstr>Consolas</vt:lpstr>
      <vt:lpstr>Corbel</vt:lpstr>
      <vt:lpstr>Gill Sans MT</vt:lpstr>
      <vt:lpstr>Посылка</vt:lpstr>
      <vt:lpstr>Курсовая работа  МДК 11.01 Технология разработки и защиты баз данных  База данных аренды жилья</vt:lpstr>
      <vt:lpstr>Актуальность темы</vt:lpstr>
      <vt:lpstr>Цель и задачи работы</vt:lpstr>
      <vt:lpstr>Анализ предметной области</vt:lpstr>
      <vt:lpstr>Анализ предметной области</vt:lpstr>
      <vt:lpstr>выбор технологий разработки</vt:lpstr>
      <vt:lpstr>Проектирование базы данных</vt:lpstr>
      <vt:lpstr>Логическая модель базы данных</vt:lpstr>
      <vt:lpstr>физическая модель базы данных</vt:lpstr>
      <vt:lpstr>Реализация бизнес-логики в базе данных</vt:lpstr>
      <vt:lpstr>Архитектура веб-приложения</vt:lpstr>
      <vt:lpstr>Реализация бэкенд</vt:lpstr>
      <vt:lpstr>Интерфейс веб-приложения</vt:lpstr>
      <vt:lpstr>Администрирование и защита данных</vt:lpstr>
      <vt:lpstr>Тестирование и оптимизация</vt:lpstr>
      <vt:lpstr>Результаты работы</vt:lpstr>
      <vt:lpstr>Ответы на вопросы комиссии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Teacher</dc:creator>
  <cp:lastModifiedBy>Никита Тихоненков</cp:lastModifiedBy>
  <cp:revision>98</cp:revision>
  <dcterms:created xsi:type="dcterms:W3CDTF">2025-03-28T06:43:39Z</dcterms:created>
  <dcterms:modified xsi:type="dcterms:W3CDTF">2026-04-15T15:58:00Z</dcterms:modified>
</cp:coreProperties>
</file>