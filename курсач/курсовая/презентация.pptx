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comments/comment1.xml" ContentType="application/vnd.openxmlformats-officedocument.presentationml.comments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19"/>
  </p:notesMasterIdLst>
  <p:sldIdLst>
    <p:sldId id="256" r:id="rId2"/>
    <p:sldId id="257" r:id="rId3"/>
    <p:sldId id="258" r:id="rId4"/>
    <p:sldId id="273" r:id="rId5"/>
    <p:sldId id="259" r:id="rId6"/>
    <p:sldId id="274" r:id="rId7"/>
    <p:sldId id="260" r:id="rId8"/>
    <p:sldId id="261" r:id="rId9"/>
    <p:sldId id="275" r:id="rId10"/>
    <p:sldId id="262" r:id="rId11"/>
    <p:sldId id="263" r:id="rId12"/>
    <p:sldId id="264" r:id="rId13"/>
    <p:sldId id="269" r:id="rId14"/>
    <p:sldId id="270" r:id="rId15"/>
    <p:sldId id="271" r:id="rId16"/>
    <p:sldId id="272" r:id="rId17"/>
    <p:sldId id="268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Никита Тихоненков" initials="НТ" lastIdx="1" clrIdx="0">
    <p:extLst>
      <p:ext uri="{19B8F6BF-5375-455C-9EA6-DF929625EA0E}">
        <p15:presenceInfo xmlns:p15="http://schemas.microsoft.com/office/powerpoint/2012/main" userId="829f3e49429fa0d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8CCF0"/>
    <a:srgbClr val="418AB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0" autoAdjust="0"/>
    <p:restoredTop sz="94660"/>
  </p:normalViewPr>
  <p:slideViewPr>
    <p:cSldViewPr snapToGrid="0">
      <p:cViewPr varScale="1">
        <p:scale>
          <a:sx n="71" d="100"/>
          <a:sy n="71" d="100"/>
        </p:scale>
        <p:origin x="1896" y="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4-15T18:47:31.399" idx="1">
    <p:pos x="7582" y="870"/>
    <p:text/>
    <p:extLst>
      <p:ext uri="{C676402C-5697-4E1C-873F-D02D1690AC5C}">
        <p15:threadingInfo xmlns:p15="http://schemas.microsoft.com/office/powerpoint/2012/main" timeZoneBias="-18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A742F-06BB-4F49-82EA-40B155807A83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A02A38-2D17-4211-9F43-FFE5923202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1563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02A38-2D17-4211-9F43-FFE5923202C1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95539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9295C-1C7B-4648-87F0-42E1ABBAE4B3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63087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9295C-1C7B-4648-87F0-42E1ABBAE4B3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7870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9295C-1C7B-4648-87F0-42E1ABBAE4B3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65485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9295C-1C7B-4648-87F0-42E1ABBAE4B3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077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9295C-1C7B-4648-87F0-42E1ABBAE4B3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8209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9295C-1C7B-4648-87F0-42E1ABBAE4B3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31151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9295C-1C7B-4648-87F0-42E1ABBAE4B3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291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9295C-1C7B-4648-87F0-42E1ABBAE4B3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6184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E139295C-1C7B-4648-87F0-42E1ABBAE4B3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0156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9295C-1C7B-4648-87F0-42E1ABBAE4B3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7331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9295C-1C7B-4648-87F0-42E1ABBAE4B3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3746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E139295C-1C7B-4648-87F0-42E1ABBAE4B3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6A0B6AD2-AFCE-420E-9AAA-0FB5422D66E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01489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mc:AlternateContent xmlns:mc="http://schemas.openxmlformats.org/markup-compatibility/2006" xmlns:p14="http://schemas.microsoft.com/office/powerpoint/2010/main">
    <mc:Choice Requires="p14">
      <p:transition spd="slow" p14:dur="3000" advClick="0">
        <p14:vortex/>
      </p:transition>
    </mc:Choice>
    <mc:Fallback xmlns="">
      <p:transition spd="slow" advClick="0">
        <p:fade/>
      </p:transition>
    </mc:Fallback>
  </mc:AlternateConten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C8799B-6D1C-4B1E-B19D-F2A3280585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383" y="940499"/>
            <a:ext cx="11903242" cy="3417987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Курсовая работа</a:t>
            </a:r>
            <a:b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МДК 11.01 Технология разработки и</a:t>
            </a:r>
            <a:b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защиты баз данных</a:t>
            </a:r>
            <a:b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База данных аренды жилья</a:t>
            </a:r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E8CFA52D-E3FC-41CD-90D2-6F3F593890B8}"/>
              </a:ext>
            </a:extLst>
          </p:cNvPr>
          <p:cNvSpPr txBox="1">
            <a:spLocks/>
          </p:cNvSpPr>
          <p:nvPr/>
        </p:nvSpPr>
        <p:spPr>
          <a:xfrm>
            <a:off x="146384" y="115304"/>
            <a:ext cx="11903242" cy="612607"/>
          </a:xfrm>
          <a:prstGeom prst="rect">
            <a:avLst/>
          </a:prstGeom>
          <a:solidFill>
            <a:srgbClr val="FFFFFF"/>
          </a:solidFill>
          <a:ln w="38100" cap="sq">
            <a:solidFill>
              <a:srgbClr val="404040"/>
            </a:solidFill>
            <a:miter lim="800000"/>
          </a:ln>
        </p:spPr>
        <p:txBody>
          <a:bodyPr vert="horz" lIns="274320" tIns="182880" rIns="274320" bIns="182880" rtlCol="0" anchor="ctr" anchorCtr="1">
            <a:normAutofit fontScale="2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ru-RU" b="1" spc="0" dirty="0">
                <a:latin typeface="Arial" panose="020B0604020202020204" pitchFamily="34" charset="0"/>
                <a:cs typeface="Arial" panose="020B0604020202020204" pitchFamily="34" charset="0"/>
              </a:rPr>
              <a:t>Санкт-петербургское государственное бюджетное профессиональное образовательное учреждение</a:t>
            </a:r>
          </a:p>
          <a:p>
            <a:pPr>
              <a:lnSpc>
                <a:spcPct val="120000"/>
              </a:lnSpc>
            </a:pPr>
            <a:endParaRPr lang="ru-RU" b="1" spc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20000"/>
              </a:lnSpc>
            </a:pPr>
            <a:r>
              <a:rPr lang="ru-RU" b="1" spc="0" dirty="0">
                <a:latin typeface="Arial" panose="020B0604020202020204" pitchFamily="34" charset="0"/>
                <a:cs typeface="Arial" panose="020B0604020202020204" pitchFamily="34" charset="0"/>
              </a:rPr>
              <a:t>«Ижорский политехнический колледж»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D8A7F3A-CBA1-45AC-843B-C0D8F7C2B37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486" y="151400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8681F9A7-EB38-4E88-9F25-C7687863235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66099" y="153401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FCBF1417-9BD1-41FB-B001-214A78435DBC}"/>
              </a:ext>
            </a:extLst>
          </p:cNvPr>
          <p:cNvSpPr txBox="1">
            <a:spLocks/>
          </p:cNvSpPr>
          <p:nvPr/>
        </p:nvSpPr>
        <p:spPr>
          <a:xfrm>
            <a:off x="6095999" y="4600135"/>
            <a:ext cx="5949617" cy="2142560"/>
          </a:xfrm>
          <a:prstGeom prst="rect">
            <a:avLst/>
          </a:prstGeom>
          <a:solidFill>
            <a:srgbClr val="FFFFFF"/>
          </a:solidFill>
          <a:ln w="38100" cap="sq">
            <a:solidFill>
              <a:srgbClr val="404040"/>
            </a:solidFill>
            <a:miter lim="800000"/>
          </a:ln>
        </p:spPr>
        <p:txBody>
          <a:bodyPr vert="horz" lIns="118800" tIns="118800" rIns="118800" bIns="118800" rtlCol="0" anchor="ctr" anchorCtr="0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Руководитель:</a:t>
            </a:r>
          </a:p>
          <a:p>
            <a:pPr algn="l">
              <a:lnSpc>
                <a:spcPct val="15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ct val="150000"/>
              </a:lnSpc>
            </a:pP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Преподаватель спец. Дисциплин</a:t>
            </a:r>
          </a:p>
          <a:p>
            <a:pPr algn="l">
              <a:lnSpc>
                <a:spcPct val="150000"/>
              </a:lnSpc>
            </a:pP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по специальности 09.02.07</a:t>
            </a:r>
          </a:p>
          <a:p>
            <a:pPr algn="l">
              <a:lnSpc>
                <a:spcPct val="150000"/>
              </a:lnSpc>
            </a:pP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Венедиктов Дмитрий Викторович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5520369F-0405-4705-AEC0-6B1E04846B84}"/>
              </a:ext>
            </a:extLst>
          </p:cNvPr>
          <p:cNvSpPr txBox="1">
            <a:spLocks/>
          </p:cNvSpPr>
          <p:nvPr/>
        </p:nvSpPr>
        <p:spPr>
          <a:xfrm>
            <a:off x="146383" y="4600135"/>
            <a:ext cx="5949618" cy="2142560"/>
          </a:xfrm>
          <a:prstGeom prst="rect">
            <a:avLst/>
          </a:prstGeom>
          <a:solidFill>
            <a:srgbClr val="FFFFFF"/>
          </a:solidFill>
          <a:ln w="38100" cap="sq">
            <a:solidFill>
              <a:srgbClr val="404040"/>
            </a:solidFill>
            <a:miter lim="800000"/>
          </a:ln>
        </p:spPr>
        <p:txBody>
          <a:bodyPr vert="horz" lIns="118800" tIns="118800" rIns="118800" bIns="11880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Выполнил Студент группы 231с</a:t>
            </a:r>
          </a:p>
          <a:p>
            <a:pPr algn="l">
              <a:lnSpc>
                <a:spcPct val="150000"/>
              </a:lnSpc>
            </a:pP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ТИХОНЕНКОВ Н.А.</a:t>
            </a:r>
          </a:p>
        </p:txBody>
      </p:sp>
    </p:spTree>
    <p:extLst>
      <p:ext uri="{BB962C8B-B14F-4D97-AF65-F5344CB8AC3E}">
        <p14:creationId xmlns:p14="http://schemas.microsoft.com/office/powerpoint/2010/main" val="1325838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/>
    </mc:Choice>
    <mc:Fallback xmlns="">
      <p:transition spd="slow"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Актуальность темы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6411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DB9D85-69EC-4E0B-9EC1-01BCECD448D1}"/>
              </a:ext>
            </a:extLst>
          </p:cNvPr>
          <p:cNvSpPr txBox="1"/>
          <p:nvPr/>
        </p:nvSpPr>
        <p:spPr>
          <a:xfrm>
            <a:off x="581890" y="1698171"/>
            <a:ext cx="11085615" cy="3266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Развитие цифровых сервисов повышает спрос на онлайн-платформы аренды недвижимости.</a:t>
            </a:r>
            <a:b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Разработка веб-приложения позволяет упростить поиск и бронирование жилья.</a:t>
            </a:r>
            <a:b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Проект демонстрирует применение современных технологий и имеет практическую значимость, может быть использовано как основа для реального сервиса.</a:t>
            </a:r>
          </a:p>
        </p:txBody>
      </p:sp>
    </p:spTree>
    <p:extLst>
      <p:ext uri="{BB962C8B-B14F-4D97-AF65-F5344CB8AC3E}">
        <p14:creationId xmlns:p14="http://schemas.microsoft.com/office/powerpoint/2010/main" val="2528362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prism isContent="1"/>
      </p:transition>
    </mc:Choice>
    <mc:Fallback xmlns="">
      <p:transition spd="slow" advClick="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Цель и задачи работы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6411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7FC013-94FF-446B-A90D-21C2B993491D}"/>
              </a:ext>
            </a:extLst>
          </p:cNvPr>
          <p:cNvSpPr txBox="1"/>
          <p:nvPr/>
        </p:nvSpPr>
        <p:spPr>
          <a:xfrm>
            <a:off x="413656" y="1537854"/>
            <a:ext cx="1188118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b="1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Цель: </a:t>
            </a: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Проектирование базы данных аренды жилья и разработка веб-приложения для работы с ней</a:t>
            </a: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0500D8-FF0E-4FDB-A845-CAFD30C4EEB3}"/>
              </a:ext>
            </a:extLst>
          </p:cNvPr>
          <p:cNvSpPr txBox="1"/>
          <p:nvPr/>
        </p:nvSpPr>
        <p:spPr>
          <a:xfrm>
            <a:off x="413656" y="2707405"/>
            <a:ext cx="1144781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Задачи:</a:t>
            </a:r>
            <a:b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• Анализ предметной области</a:t>
            </a:r>
            <a:b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• Спроектировать логическую и физическую структуру </a:t>
            </a:r>
            <a:r>
              <a:rPr lang="ru-RU" sz="2000" cap="all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базы данных</a:t>
            </a:r>
            <a:b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• Разработка </a:t>
            </a:r>
            <a:r>
              <a:rPr lang="ru-RU" sz="2000" cap="all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фронтенда</a:t>
            </a:r>
            <a:b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• Разработка бэкенда</a:t>
            </a:r>
            <a:b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• Тестирование системы</a:t>
            </a:r>
          </a:p>
        </p:txBody>
      </p:sp>
    </p:spTree>
    <p:extLst>
      <p:ext uri="{BB962C8B-B14F-4D97-AF65-F5344CB8AC3E}">
        <p14:creationId xmlns:p14="http://schemas.microsoft.com/office/powerpoint/2010/main" val="1921124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prism dir="u" isContent="1"/>
      </p:transition>
    </mc:Choice>
    <mc:Fallback xmlns="">
      <p:transition spd="slow" advClick="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Анализ предметной области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5407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en-US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endParaRPr lang="en-US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endParaRPr lang="en-US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endParaRPr lang="en-US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Таблица 4">
            <a:extLst>
              <a:ext uri="{FF2B5EF4-FFF2-40B4-BE49-F238E27FC236}">
                <a16:creationId xmlns:a16="http://schemas.microsoft.com/office/drawing/2014/main" id="{C150D75E-7173-4FEE-833F-D98513D5FF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2719721"/>
              </p:ext>
            </p:extLst>
          </p:nvPr>
        </p:nvGraphicFramePr>
        <p:xfrm>
          <a:off x="444137" y="1515291"/>
          <a:ext cx="11303726" cy="3261487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651863">
                  <a:extLst>
                    <a:ext uri="{9D8B030D-6E8A-4147-A177-3AD203B41FA5}">
                      <a16:colId xmlns:a16="http://schemas.microsoft.com/office/drawing/2014/main" val="106229650"/>
                    </a:ext>
                  </a:extLst>
                </a:gridCol>
                <a:gridCol w="5651863">
                  <a:extLst>
                    <a:ext uri="{9D8B030D-6E8A-4147-A177-3AD203B41FA5}">
                      <a16:colId xmlns:a16="http://schemas.microsoft.com/office/drawing/2014/main" val="2641200455"/>
                    </a:ext>
                  </a:extLst>
                </a:gridCol>
              </a:tblGrid>
              <a:tr h="613927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buNone/>
                      </a:pPr>
                      <a:r>
                        <a:rPr lang="ru-RU" sz="2600" b="1" kern="1200" cap="all" spc="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сервис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8CC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buNone/>
                      </a:pPr>
                      <a:r>
                        <a:rPr lang="ru-RU" sz="2600" kern="1200" cap="all" spc="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ДОСТОИНСТВА И НЕДОСТАТКИ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8CC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944516"/>
                  </a:ext>
                </a:extLst>
              </a:tr>
              <a:tr h="88252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cap="none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Avito</a:t>
                      </a:r>
                      <a:endParaRPr lang="ru-RU" sz="2000" kern="1200" cap="none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200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Простой интерфейс, большой выбор, но много неактуальных объявлений.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8359602"/>
                  </a:ext>
                </a:extLst>
              </a:tr>
              <a:tr h="882520">
                <a:tc>
                  <a:txBody>
                    <a:bodyPr/>
                    <a:lstStyle/>
                    <a:p>
                      <a:r>
                        <a:rPr lang="ru-RU" sz="200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ЦИАН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200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Проверенные объекты, удобный поиск, но перегруженный интерфейс.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2448923"/>
                  </a:ext>
                </a:extLst>
              </a:tr>
              <a:tr h="882520">
                <a:tc>
                  <a:txBody>
                    <a:bodyPr/>
                    <a:lstStyle/>
                    <a:p>
                      <a:r>
                        <a:rPr lang="en-US" sz="200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Airbnb</a:t>
                      </a:r>
                      <a:endParaRPr lang="ru-RU" sz="2000" kern="1200" cap="none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buNone/>
                      </a:pPr>
                      <a:r>
                        <a:rPr lang="ru-RU" sz="2000" kern="1200" cap="none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Arial" panose="020B0604020202020204" pitchFamily="34" charset="0"/>
                          <a:ea typeface="+mj-ea"/>
                          <a:cs typeface="Arial" panose="020B0604020202020204" pitchFamily="34" charset="0"/>
                        </a:rPr>
                        <a:t>Удобный дизайн и бронирование, но ограничен по локальным предложениям.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5899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05F0A8F-3C59-4E32-B360-012A91C09A5F}"/>
              </a:ext>
            </a:extLst>
          </p:cNvPr>
          <p:cNvSpPr txBox="1"/>
          <p:nvPr/>
        </p:nvSpPr>
        <p:spPr>
          <a:xfrm>
            <a:off x="2002020" y="4983524"/>
            <a:ext cx="871714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ru-RU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Разрабатываемое приложение ориентировано на упрощённый и понятный интерфейс, структурированное представление объявлений и демонстрацию ключевых функций системы аренды, что делает его удобным для пользователей и наглядным для учебных целей.</a:t>
            </a:r>
          </a:p>
        </p:txBody>
      </p:sp>
    </p:spTree>
    <p:extLst>
      <p:ext uri="{BB962C8B-B14F-4D97-AF65-F5344CB8AC3E}">
        <p14:creationId xmlns:p14="http://schemas.microsoft.com/office/powerpoint/2010/main" val="21428547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prism dir="r" isContent="1"/>
      </p:transition>
    </mc:Choice>
    <mc:Fallback xmlns="">
      <p:transition spd="slow" advClick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Анализ предметной области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08889" y="1397990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1A4691-853F-4012-BC0A-255B49FF56B0}"/>
              </a:ext>
            </a:extLst>
          </p:cNvPr>
          <p:cNvSpPr txBox="1"/>
          <p:nvPr/>
        </p:nvSpPr>
        <p:spPr>
          <a:xfrm>
            <a:off x="347782" y="1486017"/>
            <a:ext cx="3758540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/>
              <a:t>🐬</a:t>
            </a:r>
            <a:r>
              <a:rPr lang="ru-RU" sz="2500" b="1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MySQL</a:t>
            </a:r>
            <a:endParaRPr lang="ru-RU" sz="2500" cap="all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  <a:p>
            <a:r>
              <a:rPr lang="ru-RU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+ Высокая производительность, подходит для веб-приложений</a:t>
            </a:r>
          </a:p>
          <a:p>
            <a:r>
              <a:rPr lang="ru-RU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– Требует сервер и его настройки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3EBB3D-31E2-47BA-BFA9-86354F7A859D}"/>
              </a:ext>
            </a:extLst>
          </p:cNvPr>
          <p:cNvSpPr txBox="1"/>
          <p:nvPr/>
        </p:nvSpPr>
        <p:spPr>
          <a:xfrm>
            <a:off x="7656636" y="1397990"/>
            <a:ext cx="4426475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/>
              <a:t>🐘</a:t>
            </a:r>
            <a:r>
              <a:rPr lang="ru-RU" sz="2500" b="1" dirty="0" err="1">
                <a:latin typeface="Arial" panose="020B0604020202020204" pitchFamily="34" charset="0"/>
                <a:cs typeface="Arial" panose="020B0604020202020204" pitchFamily="34" charset="0"/>
              </a:rPr>
              <a:t>PostgreSQL</a:t>
            </a:r>
            <a:b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+ м</a:t>
            </a:r>
            <a:r>
              <a:rPr lang="ru-RU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ощная СУБД, высокая надёжность, расширенные возможности </a:t>
            </a:r>
            <a:b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- Б</a:t>
            </a:r>
            <a:r>
              <a:rPr lang="ru-RU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олее сложен в настройке и использовании, требует сервер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0C8930-105D-4566-9AE7-15F9AB694921}"/>
              </a:ext>
            </a:extLst>
          </p:cNvPr>
          <p:cNvSpPr txBox="1"/>
          <p:nvPr/>
        </p:nvSpPr>
        <p:spPr>
          <a:xfrm>
            <a:off x="3998457" y="2414665"/>
            <a:ext cx="4195085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/>
              <a:t>🗄️</a:t>
            </a:r>
            <a:r>
              <a:rPr lang="ru-RU" sz="3400" b="1" dirty="0" err="1">
                <a:latin typeface="Arial" panose="020B0604020202020204" pitchFamily="34" charset="0"/>
                <a:cs typeface="Arial" panose="020B0604020202020204" pitchFamily="34" charset="0"/>
              </a:rPr>
              <a:t>SQLite</a:t>
            </a:r>
            <a:b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+ Встроенная СУБД</a:t>
            </a:r>
            <a:br>
              <a:rPr lang="ru-RU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+ Не требует сервера </a:t>
            </a:r>
            <a:br>
              <a:rPr lang="ru-RU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+ Проста в использовании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95E4BB-293E-4D6D-B295-63925AB3F44C}"/>
              </a:ext>
            </a:extLst>
          </p:cNvPr>
          <p:cNvSpPr txBox="1"/>
          <p:nvPr/>
        </p:nvSpPr>
        <p:spPr>
          <a:xfrm>
            <a:off x="5652655" y="2986644"/>
            <a:ext cx="261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9A92F4-99DC-41B2-895E-440D57843E97}"/>
              </a:ext>
            </a:extLst>
          </p:cNvPr>
          <p:cNvSpPr txBox="1"/>
          <p:nvPr/>
        </p:nvSpPr>
        <p:spPr>
          <a:xfrm>
            <a:off x="3059826" y="4591480"/>
            <a:ext cx="5708172" cy="13234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ru-RU" sz="2000" b="1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Выбор: </a:t>
            </a:r>
            <a:r>
              <a:rPr lang="ru-RU" sz="2000" b="1" cap="all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SQLite</a:t>
            </a:r>
            <a:b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✔ простота </a:t>
            </a:r>
            <a:b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✔ не требует сервера </a:t>
            </a:r>
            <a:b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</a:br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✔ подходит для учебного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16702750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1600" advClick="0">
        <p14:prism dir="d" isContent="1"/>
      </p:transition>
    </mc:Choice>
    <mc:Fallback xmlns="">
      <p:transition spd="slow" advClick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выбор </a:t>
            </a:r>
            <a:r>
              <a:rPr lang="ru-RU" spc="0">
                <a:latin typeface="Arial" panose="020B0604020202020204" pitchFamily="34" charset="0"/>
                <a:cs typeface="Arial" panose="020B0604020202020204" pitchFamily="34" charset="0"/>
              </a:rPr>
              <a:t>технологий разработки</a:t>
            </a:r>
            <a:endParaRPr lang="ru-RU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1449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AB0113-FCBC-4939-97C4-20B953679897}"/>
              </a:ext>
            </a:extLst>
          </p:cNvPr>
          <p:cNvSpPr txBox="1"/>
          <p:nvPr/>
        </p:nvSpPr>
        <p:spPr>
          <a:xfrm>
            <a:off x="261257" y="1381787"/>
            <a:ext cx="11451772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Для серверной части выбрана платформа Node.js, так как она обеспечивает удобную обработку запросов и широко используется в веб-разработке.</a:t>
            </a:r>
          </a:p>
          <a:p>
            <a:endParaRPr lang="ru-RU" sz="2800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  <a:p>
            <a:r>
              <a:rPr lang="ru-RU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Фронтенд</a:t>
            </a:r>
            <a:r>
              <a:rPr lang="ru-RU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 реализован с использованием HTML, CSS и JavaScript, что позволяет создать простой и адаптивный интерфейс.</a:t>
            </a:r>
          </a:p>
          <a:p>
            <a:endParaRPr lang="ru-RU" sz="2800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  <a:p>
            <a:r>
              <a:rPr lang="ru-RU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В качестве инструментов разработки использованы Visual Studio Code для написания кода, DB </a:t>
            </a:r>
            <a:r>
              <a:rPr lang="ru-RU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Browser</a:t>
            </a:r>
            <a:r>
              <a:rPr lang="ru-RU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 </a:t>
            </a:r>
            <a:r>
              <a:rPr lang="ru-RU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for</a:t>
            </a:r>
            <a:r>
              <a:rPr lang="ru-RU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 </a:t>
            </a:r>
            <a:r>
              <a:rPr lang="ru-RU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SQLite</a:t>
            </a:r>
            <a:r>
              <a:rPr lang="ru-RU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 для работы с базой данных и </a:t>
            </a:r>
            <a:r>
              <a:rPr lang="ru-RU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Figma</a:t>
            </a:r>
            <a:r>
              <a:rPr lang="ru-RU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 для проектирования интерфейса.</a:t>
            </a:r>
          </a:p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55826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prism isContent="1"/>
      </p:transition>
    </mc:Choice>
    <mc:Fallback xmlns="">
      <p:transition spd="slow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Проектирование базы данных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5408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05955A-9588-4166-B457-66934DF876D0}"/>
              </a:ext>
            </a:extLst>
          </p:cNvPr>
          <p:cNvSpPr txBox="1"/>
          <p:nvPr/>
        </p:nvSpPr>
        <p:spPr>
          <a:xfrm>
            <a:off x="423071" y="5303520"/>
            <a:ext cx="1134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spc="0" dirty="0">
                <a:latin typeface="Arial" panose="020B0604020202020204" pitchFamily="34" charset="0"/>
                <a:cs typeface="Arial" panose="020B0604020202020204" pitchFamily="34" charset="0"/>
              </a:rPr>
              <a:t>ER-</a:t>
            </a: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диаграмма сущностей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системы</a:t>
            </a: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 и связей между ними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AB11DD2-5414-41F6-AEC8-CDD3D88A2D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071" y="1782020"/>
            <a:ext cx="11345858" cy="3293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450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prism dir="u" isContent="1"/>
      </p:transition>
    </mc:Choice>
    <mc:Fallback xmlns="">
      <p:transition spd="slow" advClick="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Логическая модель базы данных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5408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D2F57C1-6016-4CAD-9D47-99E8089899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97" y="1538023"/>
            <a:ext cx="11507806" cy="37819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90BC16-9485-4A4D-9BDC-FAF42E4C2277}"/>
              </a:ext>
            </a:extLst>
          </p:cNvPr>
          <p:cNvSpPr txBox="1"/>
          <p:nvPr/>
        </p:nvSpPr>
        <p:spPr>
          <a:xfrm>
            <a:off x="342097" y="5425440"/>
            <a:ext cx="11507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Логическая модель отражает структуру базы данных, включая таблицы, их атрибуты и связи между сущностями системы аренды жилья.</a:t>
            </a:r>
          </a:p>
        </p:txBody>
      </p:sp>
    </p:spTree>
    <p:extLst>
      <p:ext uri="{BB962C8B-B14F-4D97-AF65-F5344CB8AC3E}">
        <p14:creationId xmlns:p14="http://schemas.microsoft.com/office/powerpoint/2010/main" val="2195030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 advClick="0">
        <p14:prism dir="r" isContent="1"/>
      </p:transition>
    </mc:Choice>
    <mc:Fallback xmlns="">
      <p:transition spd="slow" advClick="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физическая модель базы данных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6411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B8372-74A0-4BC2-8213-A7251DDCBD2A}"/>
              </a:ext>
            </a:extLst>
          </p:cNvPr>
          <p:cNvSpPr txBox="1"/>
          <p:nvPr/>
        </p:nvSpPr>
        <p:spPr>
          <a:xfrm>
            <a:off x="1123406" y="5341552"/>
            <a:ext cx="994518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Представлена физическая модель базы данных, включающая таблицы пользователей и бронирований с указанием атрибутов и типов данных.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0D2C414-BE23-4C33-BAA2-8ADBE1EAB8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407" y="1509590"/>
            <a:ext cx="4506252" cy="3169738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932AA27-C876-432F-A0CA-D7A900F677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2342" y="1509590"/>
            <a:ext cx="4506252" cy="31697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B153221-E659-4ED6-B7FD-ACA2EBA9E463}"/>
              </a:ext>
            </a:extLst>
          </p:cNvPr>
          <p:cNvSpPr txBox="1"/>
          <p:nvPr/>
        </p:nvSpPr>
        <p:spPr>
          <a:xfrm>
            <a:off x="2557925" y="4606519"/>
            <a:ext cx="16372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Таблица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User</a:t>
            </a:r>
            <a:endParaRPr lang="ru-RU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8E8C1C-9B32-4412-8753-F2B32C6217BF}"/>
              </a:ext>
            </a:extLst>
          </p:cNvPr>
          <p:cNvSpPr txBox="1"/>
          <p:nvPr/>
        </p:nvSpPr>
        <p:spPr>
          <a:xfrm>
            <a:off x="7996862" y="4606519"/>
            <a:ext cx="16372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Таблица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Booking</a:t>
            </a:r>
            <a:endParaRPr lang="ru-RU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06079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1600" advClick="0">
        <p14:prism dir="d" isContent="1"/>
      </p:transition>
    </mc:Choice>
    <mc:Fallback xmlns="">
      <p:transition spd="slow" advClick="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Реализация бизнес-логики в базе данных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6411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6CDDCF-3A47-444E-A409-54FFFAB529D7}"/>
              </a:ext>
            </a:extLst>
          </p:cNvPr>
          <p:cNvSpPr txBox="1"/>
          <p:nvPr/>
        </p:nvSpPr>
        <p:spPr>
          <a:xfrm>
            <a:off x="1968137" y="1489473"/>
            <a:ext cx="82557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Ключевые SQL-запросы, реализованные в проекте:</a:t>
            </a:r>
          </a:p>
        </p:txBody>
      </p:sp>
      <p:graphicFrame>
        <p:nvGraphicFramePr>
          <p:cNvPr id="6" name="Таблица 6">
            <a:extLst>
              <a:ext uri="{FF2B5EF4-FFF2-40B4-BE49-F238E27FC236}">
                <a16:creationId xmlns:a16="http://schemas.microsoft.com/office/drawing/2014/main" id="{628177AB-FA57-4C45-A14F-C9B3263C7E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6378110"/>
              </p:ext>
            </p:extLst>
          </p:nvPr>
        </p:nvGraphicFramePr>
        <p:xfrm>
          <a:off x="310434" y="2445711"/>
          <a:ext cx="3636554" cy="1051739"/>
        </p:xfrm>
        <a:graphic>
          <a:graphicData uri="http://schemas.openxmlformats.org/drawingml/2006/table">
            <a:tbl>
              <a:tblPr bandRow="1">
                <a:tableStyleId>{073A0DAA-6AF3-43AB-8588-CEC1D06C72B9}</a:tableStyleId>
              </a:tblPr>
              <a:tblGrid>
                <a:gridCol w="3636554">
                  <a:extLst>
                    <a:ext uri="{9D8B030D-6E8A-4147-A177-3AD203B41FA5}">
                      <a16:colId xmlns:a16="http://schemas.microsoft.com/office/drawing/2014/main" val="4065547788"/>
                    </a:ext>
                  </a:extLst>
                </a:gridCol>
              </a:tblGrid>
              <a:tr h="1051739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SELECT * FROM Property</a:t>
                      </a:r>
                      <a:br>
                        <a:rPr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</a:b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WHERE available = 1</a:t>
                      </a:r>
                      <a:br>
                        <a:rPr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</a:b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ORDER BY id DESC;</a:t>
                      </a:r>
                      <a:endParaRPr lang="ru-RU" sz="2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777460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50C444-DB42-4C7F-9B40-0937252C40DA}"/>
              </a:ext>
            </a:extLst>
          </p:cNvPr>
          <p:cNvSpPr txBox="1"/>
          <p:nvPr/>
        </p:nvSpPr>
        <p:spPr>
          <a:xfrm>
            <a:off x="154405" y="3429000"/>
            <a:ext cx="37925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Получение списка доступных объявлений.</a:t>
            </a:r>
          </a:p>
        </p:txBody>
      </p:sp>
      <p:graphicFrame>
        <p:nvGraphicFramePr>
          <p:cNvPr id="8" name="Таблица 6">
            <a:extLst>
              <a:ext uri="{FF2B5EF4-FFF2-40B4-BE49-F238E27FC236}">
                <a16:creationId xmlns:a16="http://schemas.microsoft.com/office/drawing/2014/main" id="{A0D63DA7-5215-42CB-9C42-BDA3496DA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074474"/>
              </p:ext>
            </p:extLst>
          </p:nvPr>
        </p:nvGraphicFramePr>
        <p:xfrm>
          <a:off x="4533177" y="2451983"/>
          <a:ext cx="7295265" cy="1061431"/>
        </p:xfrm>
        <a:graphic>
          <a:graphicData uri="http://schemas.openxmlformats.org/drawingml/2006/table">
            <a:tbl>
              <a:tblPr bandRow="1">
                <a:tableStyleId>{073A0DAA-6AF3-43AB-8588-CEC1D06C72B9}</a:tableStyleId>
              </a:tblPr>
              <a:tblGrid>
                <a:gridCol w="7295265">
                  <a:extLst>
                    <a:ext uri="{9D8B030D-6E8A-4147-A177-3AD203B41FA5}">
                      <a16:colId xmlns:a16="http://schemas.microsoft.com/office/drawing/2014/main" val="4065547788"/>
                    </a:ext>
                  </a:extLst>
                </a:gridCol>
              </a:tblGrid>
              <a:tr h="1061431"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INSERT INTO Property (</a:t>
                      </a:r>
                      <a:r>
                        <a:rPr lang="en-US" sz="2000" kern="1200" dirty="0" err="1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landlord_id</a:t>
                      </a: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, title, address, price, available)</a:t>
                      </a:r>
                      <a:br>
                        <a:rPr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</a:b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VALUES (?, ?, ?, ?, ?);</a:t>
                      </a:r>
                      <a:endParaRPr lang="ru-RU" sz="2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777460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FD60E5F-FD35-4449-B869-5F004628F5D4}"/>
              </a:ext>
            </a:extLst>
          </p:cNvPr>
          <p:cNvSpPr txBox="1"/>
          <p:nvPr/>
        </p:nvSpPr>
        <p:spPr>
          <a:xfrm>
            <a:off x="6284517" y="3447047"/>
            <a:ext cx="37925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Добавление нового объекта недвижимости через админ-панель.</a:t>
            </a:r>
          </a:p>
        </p:txBody>
      </p:sp>
      <p:graphicFrame>
        <p:nvGraphicFramePr>
          <p:cNvPr id="10" name="Таблица 6">
            <a:extLst>
              <a:ext uri="{FF2B5EF4-FFF2-40B4-BE49-F238E27FC236}">
                <a16:creationId xmlns:a16="http://schemas.microsoft.com/office/drawing/2014/main" id="{63B6409B-1896-412D-91E4-E859BF803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1802604"/>
              </p:ext>
            </p:extLst>
          </p:nvPr>
        </p:nvGraphicFramePr>
        <p:xfrm>
          <a:off x="1307737" y="4413686"/>
          <a:ext cx="9576527" cy="850604"/>
        </p:xfrm>
        <a:graphic>
          <a:graphicData uri="http://schemas.openxmlformats.org/drawingml/2006/table">
            <a:tbl>
              <a:tblPr bandRow="1">
                <a:tableStyleId>{073A0DAA-6AF3-43AB-8588-CEC1D06C72B9}</a:tableStyleId>
              </a:tblPr>
              <a:tblGrid>
                <a:gridCol w="9576527">
                  <a:extLst>
                    <a:ext uri="{9D8B030D-6E8A-4147-A177-3AD203B41FA5}">
                      <a16:colId xmlns:a16="http://schemas.microsoft.com/office/drawing/2014/main" val="4065547788"/>
                    </a:ext>
                  </a:extLst>
                </a:gridCol>
              </a:tblGrid>
              <a:tr h="850604">
                <a:tc>
                  <a:txBody>
                    <a:bodyPr/>
                    <a:lstStyle/>
                    <a:p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DELETE FROM Property</a:t>
                      </a:r>
                      <a:br>
                        <a:rPr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</a:br>
                      <a:r>
                        <a:rPr lang="en-US" sz="2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WHERE id = ?;</a:t>
                      </a:r>
                      <a:endParaRPr lang="ru-RU" sz="2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777460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2AE9445-E4D3-4EDF-8516-43AB41AFE295}"/>
              </a:ext>
            </a:extLst>
          </p:cNvPr>
          <p:cNvSpPr txBox="1"/>
          <p:nvPr/>
        </p:nvSpPr>
        <p:spPr>
          <a:xfrm>
            <a:off x="4199708" y="5199214"/>
            <a:ext cx="37925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Удаление объявления из базы данных</a:t>
            </a:r>
            <a:r>
              <a:rPr lang="ru-RU" sz="1200" dirty="0"/>
              <a:t>.</a:t>
            </a:r>
            <a:endParaRPr lang="ru-RU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5474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prism isContent="1"/>
      </p:transition>
    </mc:Choice>
    <mc:Fallback xmlns="">
      <p:transition spd="slow" advClick="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Архитектура веб-приложения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6411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751E0C-9449-416C-901A-F2E067B288A1}"/>
              </a:ext>
            </a:extLst>
          </p:cNvPr>
          <p:cNvSpPr txBox="1"/>
          <p:nvPr/>
        </p:nvSpPr>
        <p:spPr>
          <a:xfrm>
            <a:off x="204544" y="2106505"/>
            <a:ext cx="2745205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600" b="1" dirty="0">
                <a:latin typeface="Arial" panose="020B0604020202020204" pitchFamily="34" charset="0"/>
                <a:cs typeface="Arial" panose="020B0604020202020204" pitchFamily="34" charset="0"/>
              </a:rPr>
              <a:t>Клиент</a:t>
            </a:r>
            <a:endParaRPr lang="en-US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(HTML</a:t>
            </a:r>
            <a:r>
              <a:rPr lang="ru-RU" sz="26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CSS</a:t>
            </a:r>
            <a:r>
              <a:rPr lang="ru-RU" sz="26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JS)</a:t>
            </a:r>
            <a:endParaRPr lang="ru-RU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961122-ADBF-4B9B-9282-E8FB3F28D7B6}"/>
              </a:ext>
            </a:extLst>
          </p:cNvPr>
          <p:cNvSpPr txBox="1"/>
          <p:nvPr/>
        </p:nvSpPr>
        <p:spPr>
          <a:xfrm>
            <a:off x="5015163" y="2106505"/>
            <a:ext cx="2161674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600" b="1" dirty="0">
                <a:latin typeface="Arial" panose="020B0604020202020204" pitchFamily="34" charset="0"/>
                <a:cs typeface="Arial" panose="020B0604020202020204" pitchFamily="34" charset="0"/>
              </a:rPr>
              <a:t>Сервер</a:t>
            </a:r>
            <a:endParaRPr lang="en-US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ru-RU" sz="2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Node.js)</a:t>
            </a:r>
            <a:endParaRPr lang="ru-RU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4BA87A-8E0E-49EC-BFEA-10AA9396D892}"/>
              </a:ext>
            </a:extLst>
          </p:cNvPr>
          <p:cNvSpPr txBox="1"/>
          <p:nvPr/>
        </p:nvSpPr>
        <p:spPr>
          <a:xfrm>
            <a:off x="9667374" y="2106505"/>
            <a:ext cx="2314066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600" b="1" dirty="0">
                <a:latin typeface="Arial" panose="020B0604020202020204" pitchFamily="34" charset="0"/>
                <a:cs typeface="Arial" panose="020B0604020202020204" pitchFamily="34" charset="0"/>
              </a:rPr>
              <a:t>База данных</a:t>
            </a:r>
            <a:endParaRPr lang="en-US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ru-RU" sz="2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SQLite)</a:t>
            </a:r>
            <a:endParaRPr lang="ru-RU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B1AA80D2-C06F-437E-A3EA-7CF2FB503825}"/>
              </a:ext>
            </a:extLst>
          </p:cNvPr>
          <p:cNvCxnSpPr/>
          <p:nvPr/>
        </p:nvCxnSpPr>
        <p:spPr>
          <a:xfrm>
            <a:off x="2949749" y="2552781"/>
            <a:ext cx="23682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C5F29C35-BAD5-41F2-8E9C-9B128086498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7176837" y="2552781"/>
            <a:ext cx="24905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3104A9C-17A4-4320-B2CB-984E894D6802}"/>
              </a:ext>
            </a:extLst>
          </p:cNvPr>
          <p:cNvSpPr txBox="1"/>
          <p:nvPr/>
        </p:nvSpPr>
        <p:spPr>
          <a:xfrm>
            <a:off x="204544" y="3723774"/>
            <a:ext cx="117768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cap="all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Архитектура веб-приложения построена по клиент-серверной модели, где пользователь взаимодействует с интерфейсом, сервер обрабатывает запросы, а база данных обеспечивает хранение информации.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ED471C-24A4-43CA-AC58-46627C13A42A}"/>
              </a:ext>
            </a:extLst>
          </p:cNvPr>
          <p:cNvSpPr txBox="1"/>
          <p:nvPr/>
        </p:nvSpPr>
        <p:spPr>
          <a:xfrm>
            <a:off x="3581410" y="2313615"/>
            <a:ext cx="13274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HTTP</a:t>
            </a:r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 запрос</a:t>
            </a:r>
            <a:r>
              <a:rPr lang="ru-RU" sz="1200" dirty="0"/>
              <a:t>		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5C86EBE-1669-42F2-B36F-B801A630CF42}"/>
              </a:ext>
            </a:extLst>
          </p:cNvPr>
          <p:cNvSpPr txBox="1"/>
          <p:nvPr/>
        </p:nvSpPr>
        <p:spPr>
          <a:xfrm>
            <a:off x="7945857" y="2317167"/>
            <a:ext cx="11680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SQL –</a:t>
            </a:r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 запрос</a:t>
            </a:r>
          </a:p>
        </p:txBody>
      </p:sp>
    </p:spTree>
    <p:extLst>
      <p:ext uri="{BB962C8B-B14F-4D97-AF65-F5344CB8AC3E}">
        <p14:creationId xmlns:p14="http://schemas.microsoft.com/office/powerpoint/2010/main" val="688828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prism dir="u" isContent="1"/>
      </p:transition>
    </mc:Choice>
    <mc:Fallback xmlns="">
      <p:transition spd="slow" advClick="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Реализация бэкенд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5408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C9BA543-1E04-4D70-BDD4-9CE67BDE26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2900" y="2425595"/>
            <a:ext cx="5889354" cy="329619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235BD5D-D0F8-475A-BAA1-28937FA56D8F}"/>
              </a:ext>
            </a:extLst>
          </p:cNvPr>
          <p:cNvSpPr txBox="1"/>
          <p:nvPr/>
        </p:nvSpPr>
        <p:spPr>
          <a:xfrm>
            <a:off x="329746" y="1463040"/>
            <a:ext cx="5269865" cy="5601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Бэкенд реализует API для аутентификации пользователей. При входе пользователь вводит </a:t>
            </a:r>
            <a:r>
              <a:rPr lang="ru-RU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email</a:t>
            </a:r>
            <a:r>
              <a:rPr lang="ru-RU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 и пароль, которые передаются на сервер для обработки.</a:t>
            </a:r>
          </a:p>
          <a:p>
            <a:r>
              <a:rPr lang="ru-RU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Сервер выполняет запрос к базе данных </a:t>
            </a:r>
            <a:r>
              <a:rPr lang="ru-RU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SQLite</a:t>
            </a:r>
            <a:r>
              <a:rPr lang="ru-RU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 и проверяет наличие пользователя с указанными данными. В случае успешного совпадения система подтверждает авторизацию.</a:t>
            </a:r>
          </a:p>
          <a:p>
            <a:r>
              <a:rPr lang="ru-RU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После входа создаётся пользовательская сессия, которая позволяет сохранять состояние пользователя и предоставлять доступ к защищённым разделам системы, включая административную панель.</a:t>
            </a:r>
          </a:p>
          <a:p>
            <a:r>
              <a:rPr lang="ru-RU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Основные </a:t>
            </a:r>
            <a:r>
              <a:rPr lang="ru-RU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эндпоинты</a:t>
            </a:r>
            <a:r>
              <a:rPr lang="ru-RU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: POST /</a:t>
            </a:r>
            <a:r>
              <a:rPr lang="ru-RU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login</a:t>
            </a:r>
            <a:r>
              <a:rPr lang="ru-RU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, GET /</a:t>
            </a:r>
            <a:r>
              <a:rPr lang="ru-RU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me</a:t>
            </a:r>
            <a:r>
              <a:rPr lang="ru-RU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, POST /</a:t>
            </a:r>
            <a:r>
              <a:rPr lang="ru-RU" sz="20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logout</a:t>
            </a:r>
            <a:r>
              <a:rPr lang="ru-RU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2732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 advClick="0">
        <p14:prism dir="r" isContent="1"/>
      </p:transition>
    </mc:Choice>
    <mc:Fallback xmlns="">
      <p:transition spd="slow" advClick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Интерфейс веб-приложения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6411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259D6BE-3206-42C1-9594-D9516362A8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03" y="1586323"/>
            <a:ext cx="3450712" cy="215547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3D4E7C8-13D3-4AA4-A018-4D1430F10D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04" y="4175960"/>
            <a:ext cx="3450712" cy="2155479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3B91248-2CA1-4702-9306-CFB134E35E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3985" y="4181599"/>
            <a:ext cx="3450712" cy="214984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10E9A36-2884-4043-8D57-7EAAC62D69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3986" y="1591962"/>
            <a:ext cx="3450712" cy="214984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59F28CE-2EA7-4249-B28C-418215F8C676}"/>
              </a:ext>
            </a:extLst>
          </p:cNvPr>
          <p:cNvSpPr txBox="1"/>
          <p:nvPr/>
        </p:nvSpPr>
        <p:spPr>
          <a:xfrm>
            <a:off x="1851030" y="3651103"/>
            <a:ext cx="20032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Главная страница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314E0EB-E582-4DF6-B45D-761ACBCD48F1}"/>
              </a:ext>
            </a:extLst>
          </p:cNvPr>
          <p:cNvSpPr txBox="1"/>
          <p:nvPr/>
        </p:nvSpPr>
        <p:spPr>
          <a:xfrm>
            <a:off x="1851030" y="6278214"/>
            <a:ext cx="20032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Окно подачи заявки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38D638-4006-43F0-93CA-94225EBDE257}"/>
              </a:ext>
            </a:extLst>
          </p:cNvPr>
          <p:cNvSpPr txBox="1"/>
          <p:nvPr/>
        </p:nvSpPr>
        <p:spPr>
          <a:xfrm>
            <a:off x="8391684" y="3688577"/>
            <a:ext cx="20032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Форма регистрации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010DA-14A0-4185-A0FF-224AFADF25F7}"/>
              </a:ext>
            </a:extLst>
          </p:cNvPr>
          <p:cNvSpPr txBox="1"/>
          <p:nvPr/>
        </p:nvSpPr>
        <p:spPr>
          <a:xfrm>
            <a:off x="8337712" y="6278213"/>
            <a:ext cx="20032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Форма входа</a:t>
            </a:r>
          </a:p>
        </p:txBody>
      </p:sp>
    </p:spTree>
    <p:extLst>
      <p:ext uri="{BB962C8B-B14F-4D97-AF65-F5344CB8AC3E}">
        <p14:creationId xmlns:p14="http://schemas.microsoft.com/office/powerpoint/2010/main" val="5943159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3000" advClick="0">
        <p14:prism dir="d" isContent="1"/>
      </p:transition>
    </mc:Choice>
    <mc:Fallback xmlns="">
      <p:transition spd="slow" advClick="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Администрирование и защита данных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5408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C08396A9-7DFF-41C9-B9C2-55FE8488AB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8265725"/>
              </p:ext>
            </p:extLst>
          </p:nvPr>
        </p:nvGraphicFramePr>
        <p:xfrm>
          <a:off x="300800" y="1522776"/>
          <a:ext cx="5558980" cy="2225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8980">
                  <a:extLst>
                    <a:ext uri="{9D8B030D-6E8A-4147-A177-3AD203B41FA5}">
                      <a16:colId xmlns:a16="http://schemas.microsoft.com/office/drawing/2014/main" val="2894222891"/>
                    </a:ext>
                  </a:extLst>
                </a:gridCol>
              </a:tblGrid>
              <a:tr h="2225039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Разграничение прав доступа: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Пользователь 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– </a:t>
                      </a: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просмотр объектов и бронирование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Арендодатель – добавление и управление объектами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Администратор – полный доступ к системе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436265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085717DA-31B6-4EDA-BF6A-9544CB629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1124217"/>
              </p:ext>
            </p:extLst>
          </p:nvPr>
        </p:nvGraphicFramePr>
        <p:xfrm>
          <a:off x="6332220" y="1522776"/>
          <a:ext cx="5558980" cy="2225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8980">
                  <a:extLst>
                    <a:ext uri="{9D8B030D-6E8A-4147-A177-3AD203B41FA5}">
                      <a16:colId xmlns:a16="http://schemas.microsoft.com/office/drawing/2014/main" val="2894222891"/>
                    </a:ext>
                  </a:extLst>
                </a:gridCol>
              </a:tblGrid>
              <a:tr h="2225039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Резервное копирование: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База данных хранится в формате 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SQLite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Выполняется регулярное сохранение копии файла базы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Возможность восстановления данных из резервной копии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4362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98570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prism isContent="1"/>
      </p:transition>
    </mc:Choice>
    <mc:Fallback xmlns="">
      <p:transition spd="slow" advClick="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Тестирование и оптимизация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6411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7738509-CE71-472F-B6A8-E2BE0510DA4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3699711" y="1510347"/>
            <a:ext cx="4788566" cy="3153000"/>
          </a:xfrm>
          <a:prstGeom prst="rect">
            <a:avLst/>
          </a:prstGeom>
        </p:spPr>
      </p:pic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D7FA69D3-6B2C-40B8-ABC7-BAB81371C5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9599883"/>
              </p:ext>
            </p:extLst>
          </p:nvPr>
        </p:nvGraphicFramePr>
        <p:xfrm>
          <a:off x="284623" y="1518742"/>
          <a:ext cx="3286876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6876">
                  <a:extLst>
                    <a:ext uri="{9D8B030D-6E8A-4147-A177-3AD203B41FA5}">
                      <a16:colId xmlns:a16="http://schemas.microsoft.com/office/drawing/2014/main" val="2894222891"/>
                    </a:ext>
                  </a:extLst>
                </a:gridCol>
              </a:tblGrid>
              <a:tr h="2411314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Проведено тестирование системы:</a:t>
                      </a:r>
                    </a:p>
                    <a:p>
                      <a:pPr marL="342900" indent="-342900" algn="l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Проверка регистрации и входа пользователя </a:t>
                      </a:r>
                    </a:p>
                    <a:p>
                      <a:pPr marL="342900" indent="-342900" algn="l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Проверка добавления и отображения объектов </a:t>
                      </a:r>
                    </a:p>
                    <a:p>
                      <a:pPr marL="342900" indent="-342900" algn="l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Проверка процесса бронирования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436265"/>
                  </a:ext>
                </a:extLst>
              </a:tr>
            </a:tbl>
          </a:graphicData>
        </a:graphic>
      </p:graphicFrame>
      <p:graphicFrame>
        <p:nvGraphicFramePr>
          <p:cNvPr id="13" name="Таблица 12">
            <a:extLst>
              <a:ext uri="{FF2B5EF4-FFF2-40B4-BE49-F238E27FC236}">
                <a16:creationId xmlns:a16="http://schemas.microsoft.com/office/drawing/2014/main" id="{20E0ED83-F2ED-44C7-9CAE-8FB3748D7A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3611945"/>
              </p:ext>
            </p:extLst>
          </p:nvPr>
        </p:nvGraphicFramePr>
        <p:xfrm>
          <a:off x="8616489" y="1518742"/>
          <a:ext cx="3286876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6876">
                  <a:extLst>
                    <a:ext uri="{9D8B030D-6E8A-4147-A177-3AD203B41FA5}">
                      <a16:colId xmlns:a16="http://schemas.microsoft.com/office/drawing/2014/main" val="2894222891"/>
                    </a:ext>
                  </a:extLst>
                </a:gridCol>
              </a:tblGrid>
              <a:tr h="283464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Результаты тестирования:</a:t>
                      </a:r>
                    </a:p>
                    <a:p>
                      <a:pPr marL="342900" indent="-342900" algn="l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Все основные функции работают корректно </a:t>
                      </a:r>
                    </a:p>
                    <a:p>
                      <a:pPr marL="342900" indent="-342900" algn="l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Ошибки в логике не обнаружены </a:t>
                      </a:r>
                    </a:p>
                    <a:p>
                      <a:pPr marL="342900" indent="-342900" algn="l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Система стабильно обрабатывает запросы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436265"/>
                  </a:ext>
                </a:extLst>
              </a:tr>
            </a:tbl>
          </a:graphicData>
        </a:graphic>
      </p:graphicFrame>
      <p:graphicFrame>
        <p:nvGraphicFramePr>
          <p:cNvPr id="14" name="Таблица 13">
            <a:extLst>
              <a:ext uri="{FF2B5EF4-FFF2-40B4-BE49-F238E27FC236}">
                <a16:creationId xmlns:a16="http://schemas.microsoft.com/office/drawing/2014/main" id="{A9C52C05-13E5-41C6-B899-18EF86C8C2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0230883"/>
              </p:ext>
            </p:extLst>
          </p:nvPr>
        </p:nvGraphicFramePr>
        <p:xfrm>
          <a:off x="2792829" y="4972556"/>
          <a:ext cx="6602330" cy="1320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02330">
                  <a:extLst>
                    <a:ext uri="{9D8B030D-6E8A-4147-A177-3AD203B41FA5}">
                      <a16:colId xmlns:a16="http://schemas.microsoft.com/office/drawing/2014/main" val="2894222891"/>
                    </a:ext>
                  </a:extLst>
                </a:gridCol>
              </a:tblGrid>
              <a:tr h="1320135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Оптимизация:</a:t>
                      </a:r>
                    </a:p>
                    <a:p>
                      <a:pPr algn="ctr"/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Оптимизированы SQL-запросы </a:t>
                      </a:r>
                    </a:p>
                    <a:p>
                      <a:pPr algn="ctr"/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Улучшена скорость обработки данных </a:t>
                      </a:r>
                    </a:p>
                    <a:p>
                      <a:pPr algn="ctr"/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Упрощена структура взаимодействия с базой данных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4362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36378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 advClick="0">
        <p14:prism dir="u" isContent="1"/>
      </p:transition>
    </mc:Choice>
    <mc:Fallback xmlns="">
      <p:transition spd="slow" advClick="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A91570-A256-4D1F-A84A-03396E6A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11" y="92403"/>
            <a:ext cx="11881184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pc="0" dirty="0">
                <a:latin typeface="Arial" panose="020B0604020202020204" pitchFamily="34" charset="0"/>
                <a:cs typeface="Arial" panose="020B0604020202020204" pitchFamily="34" charset="0"/>
              </a:rPr>
              <a:t>Результаты работы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80CC4CF-FBCF-4B07-9929-C2964D1D7E18}"/>
              </a:ext>
            </a:extLst>
          </p:cNvPr>
          <p:cNvSpPr txBox="1">
            <a:spLocks/>
          </p:cNvSpPr>
          <p:nvPr/>
        </p:nvSpPr>
        <p:spPr>
          <a:xfrm>
            <a:off x="156411" y="1381787"/>
            <a:ext cx="11881184" cy="5383810"/>
          </a:xfrm>
          <a:prstGeom prst="rect">
            <a:avLst/>
          </a:prstGeom>
          <a:solidFill>
            <a:srgbClr val="FFFFFF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Достигнутые результаты: спроектирована и нормализована база данных в </a:t>
            </a:r>
            <a:r>
              <a:rPr lang="en-US" sz="2000" spc="0" dirty="0" err="1">
                <a:latin typeface="Arial" panose="020B0604020202020204" pitchFamily="34" charset="0"/>
                <a:cs typeface="Arial" panose="020B0604020202020204" pitchFamily="34" charset="0"/>
              </a:rPr>
              <a:t>sqlite</a:t>
            </a: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, создан макет веб-приложения в </a:t>
            </a:r>
            <a:r>
              <a:rPr lang="ru-RU" sz="2000" spc="0" dirty="0" err="1">
                <a:latin typeface="Arial" panose="020B0604020202020204" pitchFamily="34" charset="0"/>
                <a:cs typeface="Arial" panose="020B0604020202020204" pitchFamily="34" charset="0"/>
              </a:rPr>
              <a:t>фигме</a:t>
            </a: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, разработано веб-приложение на </a:t>
            </a:r>
            <a:r>
              <a:rPr lang="en-US" sz="2000" spc="0" dirty="0">
                <a:latin typeface="Arial" panose="020B0604020202020204" pitchFamily="34" charset="0"/>
                <a:cs typeface="Arial" panose="020B0604020202020204" pitchFamily="34" charset="0"/>
              </a:rPr>
              <a:t>node.js </a:t>
            </a: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с системой аутентификации, проведено тестирование</a:t>
            </a:r>
          </a:p>
          <a:p>
            <a:pPr>
              <a:lnSpc>
                <a:spcPct val="100000"/>
              </a:lnSpc>
            </a:pPr>
            <a:endParaRPr lang="ru-RU" sz="2000" spc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ru-RU" sz="2000" spc="0" dirty="0">
                <a:latin typeface="Arial" panose="020B0604020202020204" pitchFamily="34" charset="0"/>
                <a:cs typeface="Arial" panose="020B0604020202020204" pitchFamily="34" charset="0"/>
              </a:rPr>
              <a:t>Система может применяться в сервисах аренды жилья; в перспективе — расширение функционала, внедрение онлайн-оплаты и разработка мобильного приложения.</a:t>
            </a:r>
          </a:p>
        </p:txBody>
      </p:sp>
    </p:spTree>
    <p:extLst>
      <p:ext uri="{BB962C8B-B14F-4D97-AF65-F5344CB8AC3E}">
        <p14:creationId xmlns:p14="http://schemas.microsoft.com/office/powerpoint/2010/main" val="33795360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1600" advClick="0">
        <p14:prism dir="r" isContent="1"/>
      </p:transition>
    </mc:Choice>
    <mc:Fallback xmlns="">
      <p:transition spd="slow" advClick="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CC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C8799B-6D1C-4B1E-B19D-F2A3280585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383" y="940499"/>
            <a:ext cx="11903242" cy="5802196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Ответы на вопросы комиссии</a:t>
            </a:r>
            <a:endParaRPr lang="ru-RU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E8CFA52D-E3FC-41CD-90D2-6F3F593890B8}"/>
              </a:ext>
            </a:extLst>
          </p:cNvPr>
          <p:cNvSpPr txBox="1">
            <a:spLocks/>
          </p:cNvSpPr>
          <p:nvPr/>
        </p:nvSpPr>
        <p:spPr>
          <a:xfrm>
            <a:off x="146384" y="115304"/>
            <a:ext cx="11903242" cy="612607"/>
          </a:xfrm>
          <a:prstGeom prst="rect">
            <a:avLst/>
          </a:prstGeom>
          <a:solidFill>
            <a:srgbClr val="FFFFFF"/>
          </a:solidFill>
          <a:ln w="38100" cap="sq">
            <a:solidFill>
              <a:srgbClr val="404040"/>
            </a:solidFill>
            <a:miter lim="800000"/>
          </a:ln>
        </p:spPr>
        <p:txBody>
          <a:bodyPr vert="horz" lIns="274320" tIns="182880" rIns="274320" bIns="182880" rtlCol="0" anchor="ctr" anchorCtr="1">
            <a:normAutofit fontScale="2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ru-RU" b="1" spc="0" dirty="0">
                <a:latin typeface="Arial" panose="020B0604020202020204" pitchFamily="34" charset="0"/>
                <a:cs typeface="Arial" panose="020B0604020202020204" pitchFamily="34" charset="0"/>
              </a:rPr>
              <a:t>Санкт-петербургское государственное бюджетное профессиональное образовательное учреждение</a:t>
            </a:r>
          </a:p>
          <a:p>
            <a:pPr>
              <a:lnSpc>
                <a:spcPct val="120000"/>
              </a:lnSpc>
            </a:pPr>
            <a:endParaRPr lang="ru-RU" b="1" spc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20000"/>
              </a:lnSpc>
            </a:pPr>
            <a:r>
              <a:rPr lang="ru-RU" b="1" spc="0" dirty="0">
                <a:latin typeface="Arial" panose="020B0604020202020204" pitchFamily="34" charset="0"/>
                <a:cs typeface="Arial" panose="020B0604020202020204" pitchFamily="34" charset="0"/>
              </a:rPr>
              <a:t>«Ижорский политехнический колледж»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D8A7F3A-CBA1-45AC-843B-C0D8F7C2B37C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486" y="151400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8681F9A7-EB38-4E88-9F25-C7687863235B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66099" y="153401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3170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 advClick="0">
        <p14:prism dir="d" isContent="1"/>
      </p:transition>
    </mc:Choice>
    <mc:Fallback xmlns="">
      <p:transition spd="slow" advClick="0">
        <p:fade/>
      </p:transition>
    </mc:Fallback>
  </mc:AlternateContent>
</p:sld>
</file>

<file path=ppt/theme/theme1.xml><?xml version="1.0" encoding="utf-8"?>
<a:theme xmlns:a="http://schemas.openxmlformats.org/drawingml/2006/main" name="Посылка">
  <a:themeElements>
    <a:clrScheme name="Посылка">
      <a:dk1>
        <a:srgbClr val="000000"/>
      </a:dk1>
      <a:lt1>
        <a:sysClr val="window" lastClr="FFFFFF"/>
      </a:lt1>
      <a:dk2>
        <a:srgbClr val="5E5E5E"/>
      </a:dk2>
      <a:lt2>
        <a:srgbClr val="DDDDDD"/>
      </a:lt2>
      <a:accent1>
        <a:srgbClr val="A6B727"/>
      </a:accent1>
      <a:accent2>
        <a:srgbClr val="418AB3"/>
      </a:accent2>
      <a:accent3>
        <a:srgbClr val="F69200"/>
      </a:accent3>
      <a:accent4>
        <a:srgbClr val="838383"/>
      </a:accent4>
      <a:accent5>
        <a:srgbClr val="FEC306"/>
      </a:accent5>
      <a:accent6>
        <a:srgbClr val="DF5327"/>
      </a:accent6>
      <a:hlink>
        <a:srgbClr val="F59E00"/>
      </a:hlink>
      <a:folHlink>
        <a:srgbClr val="B2B2B2"/>
      </a:folHlink>
    </a:clrScheme>
    <a:fontScheme name="Посылка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Посылка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Посылка">
    <a:dk1>
      <a:srgbClr val="000000"/>
    </a:dk1>
    <a:lt1>
      <a:sysClr val="window" lastClr="FFFFFF"/>
    </a:lt1>
    <a:dk2>
      <a:srgbClr val="5E5E5E"/>
    </a:dk2>
    <a:lt2>
      <a:srgbClr val="DDDDDD"/>
    </a:lt2>
    <a:accent1>
      <a:srgbClr val="A6B727"/>
    </a:accent1>
    <a:accent2>
      <a:srgbClr val="418AB3"/>
    </a:accent2>
    <a:accent3>
      <a:srgbClr val="F69200"/>
    </a:accent3>
    <a:accent4>
      <a:srgbClr val="838383"/>
    </a:accent4>
    <a:accent5>
      <a:srgbClr val="FEC306"/>
    </a:accent5>
    <a:accent6>
      <a:srgbClr val="DF5327"/>
    </a:accent6>
    <a:hlink>
      <a:srgbClr val="F59E00"/>
    </a:hlink>
    <a:folHlink>
      <a:srgbClr val="B2B2B2"/>
    </a:folHlink>
  </a:clrScheme>
</a:themeOverride>
</file>

<file path=ppt/theme/themeOverride2.xml><?xml version="1.0" encoding="utf-8"?>
<a:themeOverride xmlns:a="http://schemas.openxmlformats.org/drawingml/2006/main">
  <a:clrScheme name="Посылка">
    <a:dk1>
      <a:srgbClr val="000000"/>
    </a:dk1>
    <a:lt1>
      <a:sysClr val="window" lastClr="FFFFFF"/>
    </a:lt1>
    <a:dk2>
      <a:srgbClr val="5E5E5E"/>
    </a:dk2>
    <a:lt2>
      <a:srgbClr val="DDDDDD"/>
    </a:lt2>
    <a:accent1>
      <a:srgbClr val="A6B727"/>
    </a:accent1>
    <a:accent2>
      <a:srgbClr val="418AB3"/>
    </a:accent2>
    <a:accent3>
      <a:srgbClr val="F69200"/>
    </a:accent3>
    <a:accent4>
      <a:srgbClr val="838383"/>
    </a:accent4>
    <a:accent5>
      <a:srgbClr val="FEC306"/>
    </a:accent5>
    <a:accent6>
      <a:srgbClr val="DF5327"/>
    </a:accent6>
    <a:hlink>
      <a:srgbClr val="F59E00"/>
    </a:hlink>
    <a:folHlink>
      <a:srgbClr val="B2B2B2"/>
    </a:folHlink>
  </a:clrScheme>
</a:themeOverride>
</file>

<file path=ppt/theme/themeOverride3.xml><?xml version="1.0" encoding="utf-8"?>
<a:themeOverride xmlns:a="http://schemas.openxmlformats.org/drawingml/2006/main">
  <a:clrScheme name="Посылка">
    <a:dk1>
      <a:srgbClr val="000000"/>
    </a:dk1>
    <a:lt1>
      <a:sysClr val="window" lastClr="FFFFFF"/>
    </a:lt1>
    <a:dk2>
      <a:srgbClr val="5E5E5E"/>
    </a:dk2>
    <a:lt2>
      <a:srgbClr val="DDDDDD"/>
    </a:lt2>
    <a:accent1>
      <a:srgbClr val="A6B727"/>
    </a:accent1>
    <a:accent2>
      <a:srgbClr val="418AB3"/>
    </a:accent2>
    <a:accent3>
      <a:srgbClr val="F69200"/>
    </a:accent3>
    <a:accent4>
      <a:srgbClr val="838383"/>
    </a:accent4>
    <a:accent5>
      <a:srgbClr val="FEC306"/>
    </a:accent5>
    <a:accent6>
      <a:srgbClr val="DF5327"/>
    </a:accent6>
    <a:hlink>
      <a:srgbClr val="F59E00"/>
    </a:hlink>
    <a:folHlink>
      <a:srgbClr val="B2B2B2"/>
    </a:folHlink>
  </a:clrScheme>
</a:themeOverride>
</file>

<file path=ppt/theme/themeOverride4.xml><?xml version="1.0" encoding="utf-8"?>
<a:themeOverride xmlns:a="http://schemas.openxmlformats.org/drawingml/2006/main">
  <a:clrScheme name="Посылка">
    <a:dk1>
      <a:srgbClr val="000000"/>
    </a:dk1>
    <a:lt1>
      <a:sysClr val="window" lastClr="FFFFFF"/>
    </a:lt1>
    <a:dk2>
      <a:srgbClr val="5E5E5E"/>
    </a:dk2>
    <a:lt2>
      <a:srgbClr val="DDDDDD"/>
    </a:lt2>
    <a:accent1>
      <a:srgbClr val="A6B727"/>
    </a:accent1>
    <a:accent2>
      <a:srgbClr val="418AB3"/>
    </a:accent2>
    <a:accent3>
      <a:srgbClr val="F69200"/>
    </a:accent3>
    <a:accent4>
      <a:srgbClr val="838383"/>
    </a:accent4>
    <a:accent5>
      <a:srgbClr val="FEC306"/>
    </a:accent5>
    <a:accent6>
      <a:srgbClr val="DF5327"/>
    </a:accent6>
    <a:hlink>
      <a:srgbClr val="F59E00"/>
    </a:hlink>
    <a:folHlink>
      <a:srgbClr val="B2B2B2"/>
    </a:folHlink>
  </a:clrScheme>
</a:themeOverride>
</file>

<file path=ppt/theme/themeOverride5.xml><?xml version="1.0" encoding="utf-8"?>
<a:themeOverride xmlns:a="http://schemas.openxmlformats.org/drawingml/2006/main">
  <a:clrScheme name="Посылка">
    <a:dk1>
      <a:srgbClr val="000000"/>
    </a:dk1>
    <a:lt1>
      <a:sysClr val="window" lastClr="FFFFFF"/>
    </a:lt1>
    <a:dk2>
      <a:srgbClr val="5E5E5E"/>
    </a:dk2>
    <a:lt2>
      <a:srgbClr val="DDDDDD"/>
    </a:lt2>
    <a:accent1>
      <a:srgbClr val="A6B727"/>
    </a:accent1>
    <a:accent2>
      <a:srgbClr val="418AB3"/>
    </a:accent2>
    <a:accent3>
      <a:srgbClr val="F69200"/>
    </a:accent3>
    <a:accent4>
      <a:srgbClr val="838383"/>
    </a:accent4>
    <a:accent5>
      <a:srgbClr val="FEC306"/>
    </a:accent5>
    <a:accent6>
      <a:srgbClr val="DF5327"/>
    </a:accent6>
    <a:hlink>
      <a:srgbClr val="F59E00"/>
    </a:hlink>
    <a:folHlink>
      <a:srgbClr val="B2B2B2"/>
    </a:folHlink>
  </a:clrScheme>
</a:themeOverride>
</file>

<file path=ppt/theme/themeOverride6.xml><?xml version="1.0" encoding="utf-8"?>
<a:themeOverride xmlns:a="http://schemas.openxmlformats.org/drawingml/2006/main">
  <a:clrScheme name="Посылка">
    <a:dk1>
      <a:srgbClr val="000000"/>
    </a:dk1>
    <a:lt1>
      <a:sysClr val="window" lastClr="FFFFFF"/>
    </a:lt1>
    <a:dk2>
      <a:srgbClr val="5E5E5E"/>
    </a:dk2>
    <a:lt2>
      <a:srgbClr val="DDDDDD"/>
    </a:lt2>
    <a:accent1>
      <a:srgbClr val="A6B727"/>
    </a:accent1>
    <a:accent2>
      <a:srgbClr val="418AB3"/>
    </a:accent2>
    <a:accent3>
      <a:srgbClr val="F69200"/>
    </a:accent3>
    <a:accent4>
      <a:srgbClr val="838383"/>
    </a:accent4>
    <a:accent5>
      <a:srgbClr val="FEC306"/>
    </a:accent5>
    <a:accent6>
      <a:srgbClr val="DF5327"/>
    </a:accent6>
    <a:hlink>
      <a:srgbClr val="F59E00"/>
    </a:hlink>
    <a:folHlink>
      <a:srgbClr val="B2B2B2"/>
    </a:folHlink>
  </a:clrScheme>
</a:themeOverride>
</file>

<file path=ppt/theme/themeOverride7.xml><?xml version="1.0" encoding="utf-8"?>
<a:themeOverride xmlns:a="http://schemas.openxmlformats.org/drawingml/2006/main">
  <a:clrScheme name="Посылка">
    <a:dk1>
      <a:srgbClr val="000000"/>
    </a:dk1>
    <a:lt1>
      <a:sysClr val="window" lastClr="FFFFFF"/>
    </a:lt1>
    <a:dk2>
      <a:srgbClr val="5E5E5E"/>
    </a:dk2>
    <a:lt2>
      <a:srgbClr val="DDDDDD"/>
    </a:lt2>
    <a:accent1>
      <a:srgbClr val="A6B727"/>
    </a:accent1>
    <a:accent2>
      <a:srgbClr val="418AB3"/>
    </a:accent2>
    <a:accent3>
      <a:srgbClr val="F69200"/>
    </a:accent3>
    <a:accent4>
      <a:srgbClr val="838383"/>
    </a:accent4>
    <a:accent5>
      <a:srgbClr val="FEC306"/>
    </a:accent5>
    <a:accent6>
      <a:srgbClr val="DF5327"/>
    </a:accent6>
    <a:hlink>
      <a:srgbClr val="F59E00"/>
    </a:hlink>
    <a:folHlink>
      <a:srgbClr val="B2B2B2"/>
    </a:folHlink>
  </a:clrScheme>
</a:themeOverride>
</file>

<file path=ppt/theme/themeOverride8.xml><?xml version="1.0" encoding="utf-8"?>
<a:themeOverride xmlns:a="http://schemas.openxmlformats.org/drawingml/2006/main">
  <a:clrScheme name="Посылка">
    <a:dk1>
      <a:srgbClr val="000000"/>
    </a:dk1>
    <a:lt1>
      <a:sysClr val="window" lastClr="FFFFFF"/>
    </a:lt1>
    <a:dk2>
      <a:srgbClr val="5E5E5E"/>
    </a:dk2>
    <a:lt2>
      <a:srgbClr val="DDDDDD"/>
    </a:lt2>
    <a:accent1>
      <a:srgbClr val="A6B727"/>
    </a:accent1>
    <a:accent2>
      <a:srgbClr val="418AB3"/>
    </a:accent2>
    <a:accent3>
      <a:srgbClr val="F69200"/>
    </a:accent3>
    <a:accent4>
      <a:srgbClr val="838383"/>
    </a:accent4>
    <a:accent5>
      <a:srgbClr val="FEC306"/>
    </a:accent5>
    <a:accent6>
      <a:srgbClr val="DF5327"/>
    </a:accent6>
    <a:hlink>
      <a:srgbClr val="F59E00"/>
    </a:hlink>
    <a:folHlink>
      <a:srgbClr val="B2B2B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915</TotalTime>
  <Words>812</Words>
  <Application>Microsoft Office PowerPoint</Application>
  <PresentationFormat>Широкоэкранный</PresentationFormat>
  <Paragraphs>112</Paragraphs>
  <Slides>17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3" baseType="lpstr">
      <vt:lpstr>Aptos</vt:lpstr>
      <vt:lpstr>Arial</vt:lpstr>
      <vt:lpstr>Consolas</vt:lpstr>
      <vt:lpstr>Corbel</vt:lpstr>
      <vt:lpstr>Gill Sans MT</vt:lpstr>
      <vt:lpstr>Посылка</vt:lpstr>
      <vt:lpstr>Курсовая работа  МДК 11.01 Технология разработки и защиты баз данных  База данных аренды жилья</vt:lpstr>
      <vt:lpstr>Актуальность темы</vt:lpstr>
      <vt:lpstr>Цель и задачи работы</vt:lpstr>
      <vt:lpstr>Анализ предметной области</vt:lpstr>
      <vt:lpstr>Анализ предметной области</vt:lpstr>
      <vt:lpstr>выбор технологий разработки</vt:lpstr>
      <vt:lpstr>Проектирование базы данных</vt:lpstr>
      <vt:lpstr>Логическая модель базы данных</vt:lpstr>
      <vt:lpstr>физическая модель базы данных</vt:lpstr>
      <vt:lpstr>Реализация бизнес-логики в базе данных</vt:lpstr>
      <vt:lpstr>Архитектура веб-приложения</vt:lpstr>
      <vt:lpstr>Реализация бэкенд</vt:lpstr>
      <vt:lpstr>Интерфейс веб-приложения</vt:lpstr>
      <vt:lpstr>Администрирование и защита данных</vt:lpstr>
      <vt:lpstr>Тестирование и оптимизация</vt:lpstr>
      <vt:lpstr>Результаты работы</vt:lpstr>
      <vt:lpstr>Ответы на вопросы комиссии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Teacher</dc:creator>
  <cp:lastModifiedBy>Никита Тихоненков</cp:lastModifiedBy>
  <cp:revision>99</cp:revision>
  <dcterms:created xsi:type="dcterms:W3CDTF">2025-03-28T06:43:39Z</dcterms:created>
  <dcterms:modified xsi:type="dcterms:W3CDTF">2026-04-15T17:34:37Z</dcterms:modified>
</cp:coreProperties>
</file>