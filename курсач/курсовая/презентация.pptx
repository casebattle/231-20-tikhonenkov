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comments/comment1.xml" ContentType="application/vnd.openxmlformats-officedocument.presentationml.comments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256" r:id="rId2"/>
    <p:sldId id="257" r:id="rId3"/>
    <p:sldId id="258" r:id="rId4"/>
    <p:sldId id="273" r:id="rId5"/>
    <p:sldId id="259" r:id="rId6"/>
    <p:sldId id="274" r:id="rId7"/>
    <p:sldId id="260" r:id="rId8"/>
    <p:sldId id="261" r:id="rId9"/>
    <p:sldId id="275" r:id="rId10"/>
    <p:sldId id="262" r:id="rId11"/>
    <p:sldId id="263" r:id="rId12"/>
    <p:sldId id="264" r:id="rId13"/>
    <p:sldId id="269" r:id="rId14"/>
    <p:sldId id="270" r:id="rId15"/>
    <p:sldId id="271" r:id="rId16"/>
    <p:sldId id="272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Никита Тихоненков" initials="НТ" lastIdx="1" clrIdx="0">
    <p:extLst>
      <p:ext uri="{19B8F6BF-5375-455C-9EA6-DF929625EA0E}">
        <p15:presenceInfo xmlns:p15="http://schemas.microsoft.com/office/powerpoint/2012/main" userId="829f3e49429fa0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CCF0"/>
    <a:srgbClr val="418AB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0" y="19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5T18:47:31.399" idx="1">
    <p:pos x="7582" y="87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A742F-06BB-4F49-82EA-40B155807A8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02A38-2D17-4211-9F43-FFE5923202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563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02A38-2D17-4211-9F43-FFE5923202C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553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30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870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548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7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20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11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91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18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139295C-1C7B-4648-87F0-42E1ABBAE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15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33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74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139295C-1C7B-4648-87F0-42E1ABBAE4B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14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8799B-6D1C-4B1E-B19D-F2A328058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83" y="940499"/>
            <a:ext cx="11903242" cy="3417987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Курсовая работа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МДК 11.01 Технология разработки и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защиты баз данных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База данных аренды жилья</a:t>
            </a: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8CFA52D-E3FC-41CD-90D2-6F3F593890B8}"/>
              </a:ext>
            </a:extLst>
          </p:cNvPr>
          <p:cNvSpPr txBox="1">
            <a:spLocks/>
          </p:cNvSpPr>
          <p:nvPr/>
        </p:nvSpPr>
        <p:spPr>
          <a:xfrm>
            <a:off x="146384" y="115304"/>
            <a:ext cx="11903242" cy="612607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ru-RU" b="1" spc="0" dirty="0">
                <a:latin typeface="Arial" panose="020B0604020202020204" pitchFamily="34" charset="0"/>
                <a:cs typeface="Arial" panose="020B0604020202020204" pitchFamily="34" charset="0"/>
              </a:rPr>
              <a:t>Санкт-петербургское государственное бюджетное профессиональное образовательное учреждение</a:t>
            </a:r>
          </a:p>
          <a:p>
            <a:pPr>
              <a:lnSpc>
                <a:spcPct val="120000"/>
              </a:lnSpc>
            </a:pPr>
            <a:endParaRPr lang="ru-RU" b="1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b="1" spc="0" dirty="0">
                <a:latin typeface="Arial" panose="020B0604020202020204" pitchFamily="34" charset="0"/>
                <a:cs typeface="Arial" panose="020B0604020202020204" pitchFamily="34" charset="0"/>
              </a:rPr>
              <a:t>«Ижорский политехнический колледж»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8A7F3A-CBA1-45AC-843B-C0D8F7C2B37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86" y="15140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681F9A7-EB38-4E88-9F25-C7687863235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099" y="15340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CBF1417-9BD1-41FB-B001-214A78435DBC}"/>
              </a:ext>
            </a:extLst>
          </p:cNvPr>
          <p:cNvSpPr txBox="1">
            <a:spLocks/>
          </p:cNvSpPr>
          <p:nvPr/>
        </p:nvSpPr>
        <p:spPr>
          <a:xfrm>
            <a:off x="6095999" y="4600135"/>
            <a:ext cx="5949617" cy="2142560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118800" tIns="118800" rIns="118800" bIns="118800" rtlCol="0" anchor="ctr" anchorCtr="0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</a:t>
            </a:r>
          </a:p>
          <a:p>
            <a:pPr algn="l">
              <a:lnSpc>
                <a:spcPct val="15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Преподаватель спец. Дисциплин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по специальности 09.02.07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Венедиктов Дмитрий Викторович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520369F-0405-4705-AEC0-6B1E04846B84}"/>
              </a:ext>
            </a:extLst>
          </p:cNvPr>
          <p:cNvSpPr txBox="1">
            <a:spLocks/>
          </p:cNvSpPr>
          <p:nvPr/>
        </p:nvSpPr>
        <p:spPr>
          <a:xfrm>
            <a:off x="146383" y="4600135"/>
            <a:ext cx="5949618" cy="2142560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118800" tIns="118800" rIns="118800" bIns="1188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Выполнил Студент группы 231с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ТИХОНЕНКОВ Н.А.</a:t>
            </a:r>
          </a:p>
        </p:txBody>
      </p:sp>
    </p:spTree>
    <p:extLst>
      <p:ext uri="{BB962C8B-B14F-4D97-AF65-F5344CB8AC3E}">
        <p14:creationId xmlns:p14="http://schemas.microsoft.com/office/powerpoint/2010/main" val="132583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 темы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B9D85-69EC-4E0B-9EC1-01BCECD448D1}"/>
              </a:ext>
            </a:extLst>
          </p:cNvPr>
          <p:cNvSpPr txBox="1"/>
          <p:nvPr/>
        </p:nvSpPr>
        <p:spPr>
          <a:xfrm>
            <a:off x="581890" y="1698171"/>
            <a:ext cx="11085615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Рынок аренды жилья активно развивается, поэтому пользователям необходим удобный цифровой сервис для поиска и бронирования объектов.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Автоматизация обработки объявлений и заявок упрощает взаимодействие между пользователем и арендодателем.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Разработка данной системы имеет практическую значимость и может служить основой для реального веб-сервиса аренды жилья..</a:t>
            </a:r>
          </a:p>
        </p:txBody>
      </p:sp>
    </p:spTree>
    <p:extLst>
      <p:ext uri="{BB962C8B-B14F-4D97-AF65-F5344CB8AC3E}">
        <p14:creationId xmlns:p14="http://schemas.microsoft.com/office/powerpoint/2010/main" val="252836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Цель и задачи работы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FC013-94FF-446B-A90D-21C2B993491D}"/>
              </a:ext>
            </a:extLst>
          </p:cNvPr>
          <p:cNvSpPr txBox="1"/>
          <p:nvPr/>
        </p:nvSpPr>
        <p:spPr>
          <a:xfrm>
            <a:off x="413656" y="1537854"/>
            <a:ext cx="1188118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Цель: </a:t>
            </a: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Проектирование базы данных аренды жилья и разработка веб-приложения для работы с ней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500D8-FF0E-4FDB-A845-CAFD30C4EEB3}"/>
              </a:ext>
            </a:extLst>
          </p:cNvPr>
          <p:cNvSpPr txBox="1"/>
          <p:nvPr/>
        </p:nvSpPr>
        <p:spPr>
          <a:xfrm>
            <a:off x="413656" y="2707405"/>
            <a:ext cx="114478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Задачи: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Проанализировать предметную область аренды жилья.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Спроектировать логическую и физическую структуру базы данных.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Разработать клиентскую часть веб-приложения.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Разработать серверную часть веб-приложения.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Провести тестирование разработанной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92112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dir="u" isContent="1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Анализ предметной области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7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C150D75E-7173-4FEE-833F-D98513D5F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413749"/>
              </p:ext>
            </p:extLst>
          </p:nvPr>
        </p:nvGraphicFramePr>
        <p:xfrm>
          <a:off x="444137" y="1515291"/>
          <a:ext cx="11303726" cy="326148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51863">
                  <a:extLst>
                    <a:ext uri="{9D8B030D-6E8A-4147-A177-3AD203B41FA5}">
                      <a16:colId xmlns:a16="http://schemas.microsoft.com/office/drawing/2014/main" val="106229650"/>
                    </a:ext>
                  </a:extLst>
                </a:gridCol>
                <a:gridCol w="5651863">
                  <a:extLst>
                    <a:ext uri="{9D8B030D-6E8A-4147-A177-3AD203B41FA5}">
                      <a16:colId xmlns:a16="http://schemas.microsoft.com/office/drawing/2014/main" val="2641200455"/>
                    </a:ext>
                  </a:extLst>
                </a:gridCol>
              </a:tblGrid>
              <a:tr h="61392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ru-RU" sz="2600" b="1" kern="1200" cap="all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сервис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CC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ru-RU" sz="2600" kern="1200" cap="all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ДОСТОИНСТВА И НЕДОСТАТКИ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C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944516"/>
                  </a:ext>
                </a:extLst>
              </a:tr>
              <a:tr h="882520"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cap="none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Avito</a:t>
                      </a:r>
                      <a:endParaRPr lang="ru-RU" sz="2000" kern="1200" cap="none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Простой интерфейс, большой выбор, но много неактуальных объявлений.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359602"/>
                  </a:ext>
                </a:extLst>
              </a:tr>
              <a:tr h="882520">
                <a:tc>
                  <a:txBody>
                    <a:bodyPr/>
                    <a:lstStyle/>
                    <a:p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ЦИАН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Проверенные объекты, удобный поиск, но перегруженный интерфейс.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448923"/>
                  </a:ext>
                </a:extLst>
              </a:tr>
              <a:tr h="882520">
                <a:tc>
                  <a:txBody>
                    <a:bodyPr/>
                    <a:lstStyle/>
                    <a:p>
                      <a:r>
                        <a:rPr lang="en-US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Airbnb</a:t>
                      </a:r>
                      <a:endParaRPr lang="ru-RU" sz="2000" kern="1200" cap="none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Удобный дизайн и бронирование, но ограничен по локальным предложениям.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6589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05F0A8F-3C59-4E32-B360-012A91C09A5F}"/>
              </a:ext>
            </a:extLst>
          </p:cNvPr>
          <p:cNvSpPr txBox="1"/>
          <p:nvPr/>
        </p:nvSpPr>
        <p:spPr>
          <a:xfrm>
            <a:off x="2002020" y="5109468"/>
            <a:ext cx="87171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Разрабатываемое приложение отличается упрощённой структурой, понятным интерфейсом и реализацией только ключевых функций аренды жилья, что делает систему более наглядной, удобной и подходящей для учебного проекта.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5F222-76B7-4CD2-98BE-58AD2237002F}"/>
              </a:ext>
            </a:extLst>
          </p:cNvPr>
          <p:cNvSpPr txBox="1"/>
          <p:nvPr/>
        </p:nvSpPr>
        <p:spPr>
          <a:xfrm>
            <a:off x="3240512" y="4801691"/>
            <a:ext cx="6240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Таблица аналогов с достоинствами и недостатками</a:t>
            </a:r>
          </a:p>
        </p:txBody>
      </p:sp>
    </p:spTree>
    <p:extLst>
      <p:ext uri="{BB962C8B-B14F-4D97-AF65-F5344CB8AC3E}">
        <p14:creationId xmlns:p14="http://schemas.microsoft.com/office/powerpoint/2010/main" val="2142854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dir="r" isContent="1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Анализ предметной области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08889" y="1397990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4691-853F-4012-BC0A-255B49FF56B0}"/>
              </a:ext>
            </a:extLst>
          </p:cNvPr>
          <p:cNvSpPr txBox="1"/>
          <p:nvPr/>
        </p:nvSpPr>
        <p:spPr>
          <a:xfrm>
            <a:off x="347782" y="1486017"/>
            <a:ext cx="375854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🐬</a:t>
            </a:r>
            <a:r>
              <a:rPr lang="ru-RU" sz="25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MySQL</a:t>
            </a:r>
            <a:endParaRPr lang="ru-RU" sz="2500" cap="all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+ Высокая производительность, подходит для веб-приложений</a:t>
            </a:r>
          </a:p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– Требует сервер и его настройки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EBB3D-31E2-47BA-BFA9-86354F7A859D}"/>
              </a:ext>
            </a:extLst>
          </p:cNvPr>
          <p:cNvSpPr txBox="1"/>
          <p:nvPr/>
        </p:nvSpPr>
        <p:spPr>
          <a:xfrm>
            <a:off x="7656636" y="1397990"/>
            <a:ext cx="442647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🐘</a:t>
            </a:r>
            <a:r>
              <a:rPr lang="ru-RU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+ м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ощная СУБД, высокая надёжность, расширенные возможности 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- Б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олее сложен в настройке и использовании, требует сервер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0C8930-105D-4566-9AE7-15F9AB694921}"/>
              </a:ext>
            </a:extLst>
          </p:cNvPr>
          <p:cNvSpPr txBox="1"/>
          <p:nvPr/>
        </p:nvSpPr>
        <p:spPr>
          <a:xfrm>
            <a:off x="3998457" y="2414665"/>
            <a:ext cx="419508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🗄️</a:t>
            </a:r>
            <a:r>
              <a:rPr lang="ru-RU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+ Встроенная СУБД</a:t>
            </a:r>
            <a:b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+ Не требует сервера </a:t>
            </a:r>
            <a:b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+ Проста в использовании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95E4BB-293E-4D6D-B295-63925AB3F44C}"/>
              </a:ext>
            </a:extLst>
          </p:cNvPr>
          <p:cNvSpPr txBox="1"/>
          <p:nvPr/>
        </p:nvSpPr>
        <p:spPr>
          <a:xfrm>
            <a:off x="5652655" y="2986644"/>
            <a:ext cx="26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9A92F4-99DC-41B2-895E-440D57843E97}"/>
              </a:ext>
            </a:extLst>
          </p:cNvPr>
          <p:cNvSpPr txBox="1"/>
          <p:nvPr/>
        </p:nvSpPr>
        <p:spPr>
          <a:xfrm>
            <a:off x="3059826" y="4591480"/>
            <a:ext cx="57081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Выбор: </a:t>
            </a:r>
            <a:r>
              <a:rPr lang="ru-RU" sz="2000" b="1" cap="all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SQLite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✔ простота 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✔ не требует сервера 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✔ подходит для учебного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670275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d" isContent="1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выбор </a:t>
            </a:r>
            <a:r>
              <a:rPr lang="ru-RU" spc="0">
                <a:latin typeface="Arial" panose="020B0604020202020204" pitchFamily="34" charset="0"/>
                <a:cs typeface="Arial" panose="020B0604020202020204" pitchFamily="34" charset="0"/>
              </a:rPr>
              <a:t>технологий разработки</a:t>
            </a:r>
            <a:endParaRPr lang="ru-RU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1449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AB0113-FCBC-4939-97C4-20B953679897}"/>
              </a:ext>
            </a:extLst>
          </p:cNvPr>
          <p:cNvSpPr txBox="1"/>
          <p:nvPr/>
        </p:nvSpPr>
        <p:spPr>
          <a:xfrm>
            <a:off x="261257" y="1381787"/>
            <a:ext cx="11451772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Для серверной части сайта выбрана платформа PHP, так как она обеспечивает удобную обработку запросов пользователей и работу с базой данных.</a:t>
            </a:r>
          </a:p>
          <a:p>
            <a:endParaRPr lang="ru-RU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Для клиентской части использованы HTML, CSS и JavaScript, поскольку они позволяют создать понятный, адаптивный и интерактивный интерфейс веб-приложения.</a:t>
            </a:r>
          </a:p>
          <a:p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В качестве СУБД выбрана </a:t>
            </a:r>
            <a:r>
              <a:rPr lang="ru-RU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SQLite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так как она не требует отдельного сервера, проста в настройке и подходит для небольших учебных проектов.</a:t>
            </a:r>
          </a:p>
          <a:p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В качестве инструментов разработки использованы Visual Studio Code, DB </a:t>
            </a:r>
            <a:r>
              <a:rPr lang="ru-RU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Browser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for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SQLite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и </a:t>
            </a:r>
            <a:r>
              <a:rPr lang="ru-RU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Figma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5582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8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05955A-9588-4166-B457-66934DF876D0}"/>
              </a:ext>
            </a:extLst>
          </p:cNvPr>
          <p:cNvSpPr txBox="1"/>
          <p:nvPr/>
        </p:nvSpPr>
        <p:spPr>
          <a:xfrm>
            <a:off x="423071" y="5303520"/>
            <a:ext cx="11345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spc="0" dirty="0">
                <a:latin typeface="Arial" panose="020B0604020202020204" pitchFamily="34" charset="0"/>
                <a:cs typeface="Arial" panose="020B0604020202020204" pitchFamily="34" charset="0"/>
              </a:rPr>
              <a:t>ER-</a:t>
            </a: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диаграмма сущностей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системы</a:t>
            </a: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 и связей между ними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32F7156-71F7-442D-9B84-4CC75C089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524" y="1554480"/>
            <a:ext cx="6848952" cy="374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5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dir="u" isContent="1"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Логическая модель базы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8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90BC16-9485-4A4D-9BDC-FAF42E4C2277}"/>
              </a:ext>
            </a:extLst>
          </p:cNvPr>
          <p:cNvSpPr txBox="1"/>
          <p:nvPr/>
        </p:nvSpPr>
        <p:spPr>
          <a:xfrm>
            <a:off x="514865" y="5514027"/>
            <a:ext cx="11162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Логическая модель с основными таблицами и связями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47310A4-C067-477E-A93D-1E10C50AB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362" y="1409603"/>
            <a:ext cx="6417276" cy="403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3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r" isContent="1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физическая модель базы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0B8372-74A0-4BC2-8213-A7251DDCBD2A}"/>
              </a:ext>
            </a:extLst>
          </p:cNvPr>
          <p:cNvSpPr txBox="1"/>
          <p:nvPr/>
        </p:nvSpPr>
        <p:spPr>
          <a:xfrm>
            <a:off x="1123406" y="5341552"/>
            <a:ext cx="9945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Представлена физическая модель базы данных, включающая таблицы пользователей и заявок с указанием атрибутов и типов данных.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53221-E659-4ED6-B7FD-ACA2EBA9E463}"/>
              </a:ext>
            </a:extLst>
          </p:cNvPr>
          <p:cNvSpPr txBox="1"/>
          <p:nvPr/>
        </p:nvSpPr>
        <p:spPr>
          <a:xfrm>
            <a:off x="2557927" y="4663158"/>
            <a:ext cx="1637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Таблица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8E8C1C-9B32-4412-8753-F2B32C6217BF}"/>
              </a:ext>
            </a:extLst>
          </p:cNvPr>
          <p:cNvSpPr txBox="1"/>
          <p:nvPr/>
        </p:nvSpPr>
        <p:spPr>
          <a:xfrm>
            <a:off x="7996862" y="4606519"/>
            <a:ext cx="1637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Таблица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requests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CFFE00-8759-45F9-901E-326A596EF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87" y="1509590"/>
            <a:ext cx="4506252" cy="31909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5F441F5-4B5E-4557-B9D9-EA80AED9A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87" y="1509590"/>
            <a:ext cx="4506252" cy="310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607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d" isContent="1"/>
      </p:transition>
    </mc:Choice>
    <mc:Fallback xmlns=""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бизнес-логики в базе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CDDCF-3A47-444E-A409-54FFFAB529D7}"/>
              </a:ext>
            </a:extLst>
          </p:cNvPr>
          <p:cNvSpPr txBox="1"/>
          <p:nvPr/>
        </p:nvSpPr>
        <p:spPr>
          <a:xfrm>
            <a:off x="1968137" y="1489473"/>
            <a:ext cx="8255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Ключевые SQL-запросы, реализованные в проекте: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628177AB-FA57-4C45-A14F-C9B3263C7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183891"/>
              </p:ext>
            </p:extLst>
          </p:nvPr>
        </p:nvGraphicFramePr>
        <p:xfrm>
          <a:off x="563154" y="2456828"/>
          <a:ext cx="3636554" cy="1051739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3636554">
                  <a:extLst>
                    <a:ext uri="{9D8B030D-6E8A-4147-A177-3AD203B41FA5}">
                      <a16:colId xmlns:a16="http://schemas.microsoft.com/office/drawing/2014/main" val="4065547788"/>
                    </a:ext>
                  </a:extLst>
                </a:gridCol>
              </a:tblGrid>
              <a:tr h="105173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SELECT * FROM properties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WHERE available = 1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ORDER BY id DESC;</a:t>
                      </a:r>
                      <a:endParaRPr lang="ru-RU" sz="20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746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350C444-DB42-4C7F-9B40-0937252C40DA}"/>
              </a:ext>
            </a:extLst>
          </p:cNvPr>
          <p:cNvSpPr txBox="1"/>
          <p:nvPr/>
        </p:nvSpPr>
        <p:spPr>
          <a:xfrm>
            <a:off x="485139" y="3429000"/>
            <a:ext cx="3792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Получение объявлений</a:t>
            </a:r>
          </a:p>
        </p:txBody>
      </p:sp>
      <p:graphicFrame>
        <p:nvGraphicFramePr>
          <p:cNvPr id="8" name="Таблица 6">
            <a:extLst>
              <a:ext uri="{FF2B5EF4-FFF2-40B4-BE49-F238E27FC236}">
                <a16:creationId xmlns:a16="http://schemas.microsoft.com/office/drawing/2014/main" id="{A0D63DA7-5215-42CB-9C42-BDA3496DA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574822"/>
              </p:ext>
            </p:extLst>
          </p:nvPr>
        </p:nvGraphicFramePr>
        <p:xfrm>
          <a:off x="4533177" y="2451983"/>
          <a:ext cx="7295265" cy="1061431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295265">
                  <a:extLst>
                    <a:ext uri="{9D8B030D-6E8A-4147-A177-3AD203B41FA5}">
                      <a16:colId xmlns:a16="http://schemas.microsoft.com/office/drawing/2014/main" val="4065547788"/>
                    </a:ext>
                  </a:extLst>
                </a:gridCol>
              </a:tblGrid>
              <a:tr h="1061431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INSERT INTO requests</a:t>
                      </a:r>
                    </a:p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user_id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property_id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 comment, status)</a:t>
                      </a:r>
                    </a:p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VALUES (?, ?, ?, 'pending');</a:t>
                      </a:r>
                      <a:endParaRPr lang="ru-RU" sz="20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746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FD60E5F-FD35-4449-B869-5F004628F5D4}"/>
              </a:ext>
            </a:extLst>
          </p:cNvPr>
          <p:cNvSpPr txBox="1"/>
          <p:nvPr/>
        </p:nvSpPr>
        <p:spPr>
          <a:xfrm>
            <a:off x="6284517" y="3447047"/>
            <a:ext cx="3792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Создание заявки</a:t>
            </a:r>
          </a:p>
        </p:txBody>
      </p:sp>
      <p:graphicFrame>
        <p:nvGraphicFramePr>
          <p:cNvPr id="10" name="Таблица 6">
            <a:extLst>
              <a:ext uri="{FF2B5EF4-FFF2-40B4-BE49-F238E27FC236}">
                <a16:creationId xmlns:a16="http://schemas.microsoft.com/office/drawing/2014/main" id="{63B6409B-1896-412D-91E4-E859BF803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675331"/>
              </p:ext>
            </p:extLst>
          </p:nvPr>
        </p:nvGraphicFramePr>
        <p:xfrm>
          <a:off x="563154" y="4307096"/>
          <a:ext cx="3636554" cy="1061431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3636554">
                  <a:extLst>
                    <a:ext uri="{9D8B030D-6E8A-4147-A177-3AD203B41FA5}">
                      <a16:colId xmlns:a16="http://schemas.microsoft.com/office/drawing/2014/main" val="4065547788"/>
                    </a:ext>
                  </a:extLst>
                </a:gridCol>
              </a:tblGrid>
              <a:tr h="1061431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UPDATE requests</a:t>
                      </a:r>
                    </a:p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SET status = 'approved'</a:t>
                      </a:r>
                    </a:p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WHERE id = ?;</a:t>
                      </a:r>
                      <a:endParaRPr lang="ru-RU" sz="20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7460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2AE9445-E4D3-4EDF-8516-43AB41AFE295}"/>
              </a:ext>
            </a:extLst>
          </p:cNvPr>
          <p:cNvSpPr txBox="1"/>
          <p:nvPr/>
        </p:nvSpPr>
        <p:spPr>
          <a:xfrm>
            <a:off x="407125" y="5337713"/>
            <a:ext cx="3792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Одобрение заявки администратором</a:t>
            </a:r>
          </a:p>
        </p:txBody>
      </p:sp>
      <p:graphicFrame>
        <p:nvGraphicFramePr>
          <p:cNvPr id="13" name="Таблица 6">
            <a:extLst>
              <a:ext uri="{FF2B5EF4-FFF2-40B4-BE49-F238E27FC236}">
                <a16:creationId xmlns:a16="http://schemas.microsoft.com/office/drawing/2014/main" id="{6EB55AF7-1681-4817-A28E-DE7E603DBB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948815"/>
              </p:ext>
            </p:extLst>
          </p:nvPr>
        </p:nvGraphicFramePr>
        <p:xfrm>
          <a:off x="4529439" y="3849916"/>
          <a:ext cx="7178424" cy="252984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178424">
                  <a:extLst>
                    <a:ext uri="{9D8B030D-6E8A-4147-A177-3AD203B41FA5}">
                      <a16:colId xmlns:a16="http://schemas.microsoft.com/office/drawing/2014/main" val="4065547788"/>
                    </a:ext>
                  </a:extLst>
                </a:gridCol>
              </a:tblGrid>
              <a:tr h="234035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CREATE TRIGGER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request_approved_update_property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AFTER UPDATE OF status ON requests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FOR EACH ROW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WHEN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NEW.status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= 'approved'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BEGIN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UPDATE properties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SET available = 0,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 status = 'approved'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WHERE id =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NEW.property_id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END;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746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F71A61A-A53A-4B60-8A25-D09FD2FD23DA}"/>
              </a:ext>
            </a:extLst>
          </p:cNvPr>
          <p:cNvSpPr txBox="1"/>
          <p:nvPr/>
        </p:nvSpPr>
        <p:spPr>
          <a:xfrm>
            <a:off x="6284517" y="6341920"/>
            <a:ext cx="3792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Триггер обновления статуса объявления</a:t>
            </a:r>
          </a:p>
        </p:txBody>
      </p:sp>
    </p:spTree>
    <p:extLst>
      <p:ext uri="{BB962C8B-B14F-4D97-AF65-F5344CB8AC3E}">
        <p14:creationId xmlns:p14="http://schemas.microsoft.com/office/powerpoint/2010/main" val="161547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веб-приложения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751E0C-9449-416C-901A-F2E067B288A1}"/>
              </a:ext>
            </a:extLst>
          </p:cNvPr>
          <p:cNvSpPr txBox="1"/>
          <p:nvPr/>
        </p:nvSpPr>
        <p:spPr>
          <a:xfrm>
            <a:off x="204544" y="2106505"/>
            <a:ext cx="274520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Клиент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(HTML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JS)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61122-ADBF-4B9B-9282-E8FB3F28D7B6}"/>
              </a:ext>
            </a:extLst>
          </p:cNvPr>
          <p:cNvSpPr txBox="1"/>
          <p:nvPr/>
        </p:nvSpPr>
        <p:spPr>
          <a:xfrm>
            <a:off x="5015163" y="2106505"/>
            <a:ext cx="216167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Сервер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PHP)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BA87A-8E0E-49EC-BFEA-10AA9396D892}"/>
              </a:ext>
            </a:extLst>
          </p:cNvPr>
          <p:cNvSpPr txBox="1"/>
          <p:nvPr/>
        </p:nvSpPr>
        <p:spPr>
          <a:xfrm>
            <a:off x="9667374" y="2106505"/>
            <a:ext cx="231406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База данных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SQLite)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B1AA80D2-C06F-437E-A3EA-7CF2FB503825}"/>
              </a:ext>
            </a:extLst>
          </p:cNvPr>
          <p:cNvCxnSpPr/>
          <p:nvPr/>
        </p:nvCxnSpPr>
        <p:spPr>
          <a:xfrm>
            <a:off x="2949749" y="2552781"/>
            <a:ext cx="23682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C5F29C35-BAD5-41F2-8E9C-9B128086498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76837" y="2552781"/>
            <a:ext cx="24905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3104A9C-17A4-4320-B2CB-984E894D6802}"/>
              </a:ext>
            </a:extLst>
          </p:cNvPr>
          <p:cNvSpPr txBox="1"/>
          <p:nvPr/>
        </p:nvSpPr>
        <p:spPr>
          <a:xfrm>
            <a:off x="204544" y="3723774"/>
            <a:ext cx="117768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приложения построена по клиент-серверной модели. Клиентская часть, реализованная на HTML, CSS и JavaScript, отправляет HTTP-запросы на сервер. Серверная часть на PHP обрабатывает запросы, выполняет бизнес-логику и взаимодействует с базой данных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посредством SQL-запросов.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ED471C-24A4-43CA-AC58-46627C13A42A}"/>
              </a:ext>
            </a:extLst>
          </p:cNvPr>
          <p:cNvSpPr txBox="1"/>
          <p:nvPr/>
        </p:nvSpPr>
        <p:spPr>
          <a:xfrm>
            <a:off x="3581410" y="2313615"/>
            <a:ext cx="1327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запрос</a:t>
            </a:r>
            <a:r>
              <a:rPr lang="ru-RU" sz="1200" dirty="0"/>
              <a:t>		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C86EBE-1669-42F2-B36F-B801A630CF42}"/>
              </a:ext>
            </a:extLst>
          </p:cNvPr>
          <p:cNvSpPr txBox="1"/>
          <p:nvPr/>
        </p:nvSpPr>
        <p:spPr>
          <a:xfrm>
            <a:off x="7945857" y="2317167"/>
            <a:ext cx="1168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SQL –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запрос</a:t>
            </a:r>
          </a:p>
        </p:txBody>
      </p:sp>
    </p:spTree>
    <p:extLst>
      <p:ext uri="{BB962C8B-B14F-4D97-AF65-F5344CB8AC3E}">
        <p14:creationId xmlns:p14="http://schemas.microsoft.com/office/powerpoint/2010/main" val="68882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dir="u" isContent="1"/>
      </p:transition>
    </mc:Choice>
    <mc:Fallback xmlns=""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бэкенд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8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FC5BC7F-7426-4B33-83E7-28678A9AC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619" y="1498877"/>
            <a:ext cx="3246398" cy="351251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A9A5347-912A-4046-847D-B608C04E8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475" y="1498877"/>
            <a:ext cx="3443659" cy="35125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096D97-3027-410C-A90E-99C1DCE820FF}"/>
              </a:ext>
            </a:extLst>
          </p:cNvPr>
          <p:cNvSpPr txBox="1"/>
          <p:nvPr/>
        </p:nvSpPr>
        <p:spPr>
          <a:xfrm>
            <a:off x="6330933" y="5021132"/>
            <a:ext cx="1662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вход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D43C6A-C2A7-4A5E-914C-B6777A768D1E}"/>
              </a:ext>
            </a:extLst>
          </p:cNvPr>
          <p:cNvSpPr txBox="1"/>
          <p:nvPr/>
        </p:nvSpPr>
        <p:spPr>
          <a:xfrm>
            <a:off x="9260792" y="5021132"/>
            <a:ext cx="2634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регистрация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64EC66-D389-4523-A31F-A2E78903987F}"/>
              </a:ext>
            </a:extLst>
          </p:cNvPr>
          <p:cNvSpPr txBox="1"/>
          <p:nvPr/>
        </p:nvSpPr>
        <p:spPr>
          <a:xfrm>
            <a:off x="155408" y="1398213"/>
            <a:ext cx="49082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Регистрация: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Пользователь вводит имя, телефон,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пароль.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Нажимает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Зарегистрироваться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проверяет уникальность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Пароль </a:t>
            </a:r>
            <a:r>
              <a:rPr lang="ru-RU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хешируется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данные сохраняются в БД.</a:t>
            </a:r>
          </a:p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7F8067-9CE4-420A-A164-2E2E9D55FCB0}"/>
              </a:ext>
            </a:extLst>
          </p:cNvPr>
          <p:cNvSpPr txBox="1"/>
          <p:nvPr/>
        </p:nvSpPr>
        <p:spPr>
          <a:xfrm>
            <a:off x="84679" y="3701183"/>
            <a:ext cx="49789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Вход: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Пользователь вводит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пароль.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Нажимает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Войти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находит пользователя по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сверяет пароль через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password_verify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успешной проверке создаётся сессия и открывается личный кабинет.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2732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r" isContent="1"/>
      </p:transition>
    </mc:Choice>
    <mc:Fallback xmlns=""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Интерфейс веб-приложения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9F28CE-2EA7-4249-B28C-418215F8C676}"/>
              </a:ext>
            </a:extLst>
          </p:cNvPr>
          <p:cNvSpPr txBox="1"/>
          <p:nvPr/>
        </p:nvSpPr>
        <p:spPr>
          <a:xfrm>
            <a:off x="1851030" y="3688577"/>
            <a:ext cx="2003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Главная страница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14E0EB-E582-4DF6-B45D-761ACBCD48F1}"/>
              </a:ext>
            </a:extLst>
          </p:cNvPr>
          <p:cNvSpPr txBox="1"/>
          <p:nvPr/>
        </p:nvSpPr>
        <p:spPr>
          <a:xfrm>
            <a:off x="1881940" y="6278212"/>
            <a:ext cx="2003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Личный кабинет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8D638-4006-43F0-93CA-94225EBDE257}"/>
              </a:ext>
            </a:extLst>
          </p:cNvPr>
          <p:cNvSpPr txBox="1"/>
          <p:nvPr/>
        </p:nvSpPr>
        <p:spPr>
          <a:xfrm>
            <a:off x="8391684" y="3688577"/>
            <a:ext cx="2003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Форма регистрации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010DA-14A0-4185-A0FF-224AFADF25F7}"/>
              </a:ext>
            </a:extLst>
          </p:cNvPr>
          <p:cNvSpPr txBox="1"/>
          <p:nvPr/>
        </p:nvSpPr>
        <p:spPr>
          <a:xfrm>
            <a:off x="8337712" y="6278213"/>
            <a:ext cx="2003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Форма входа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5F7DFA-24B6-4D69-8B1B-7632696AD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02" y="1544162"/>
            <a:ext cx="3450712" cy="219764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996D9C6-39C8-4820-8C2C-8EF386FFB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3984" y="4175960"/>
            <a:ext cx="3450712" cy="213854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C611A81-F2A7-4A15-91AC-C49C004CEA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3984" y="1573709"/>
            <a:ext cx="3450712" cy="213854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691C3A2-FCA6-4687-9DCE-24C6A36DDE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02" y="4146413"/>
            <a:ext cx="3450712" cy="216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31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dir="d" isContent="1"/>
      </p:transition>
    </mc:Choice>
    <mc:Fallback xmlns="">
      <p:transition spd="slow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Администрирование и защита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8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08396A9-7DFF-41C9-B9C2-55FE8488A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980315"/>
              </p:ext>
            </p:extLst>
          </p:nvPr>
        </p:nvGraphicFramePr>
        <p:xfrm>
          <a:off x="300800" y="1522776"/>
          <a:ext cx="5558980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980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2225039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Разграничение прав доступа: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Пользователь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просмотр объявлений, подача заявок, избранное, личный кабинет, чат с администратором.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Администратор – полный доступ к системе, добавление и управление объектами, обработка заявок, чат с пользователем.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085717DA-31B6-4EDA-BF6A-9544CB629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960628"/>
              </p:ext>
            </p:extLst>
          </p:nvPr>
        </p:nvGraphicFramePr>
        <p:xfrm>
          <a:off x="6332220" y="1522776"/>
          <a:ext cx="555898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980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2225039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Резервное копирование: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База данных хранится в отдельном файле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SQLite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Возможность создания резервной копии путём копирования файла БД.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 необходимости данные могут быть восстановлены из сохранённой копии.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857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Тестирование и оптимизация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738509-CE71-472F-B6A8-E2BE0510DA4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99711" y="1510347"/>
            <a:ext cx="4788566" cy="3153000"/>
          </a:xfrm>
          <a:prstGeom prst="rect">
            <a:avLst/>
          </a:prstGeom>
        </p:spPr>
      </p:pic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D7FA69D3-6B2C-40B8-ABC7-BAB81371C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599883"/>
              </p:ext>
            </p:extLst>
          </p:nvPr>
        </p:nvGraphicFramePr>
        <p:xfrm>
          <a:off x="284623" y="1518742"/>
          <a:ext cx="328687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876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2411314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Проведено тестирование системы: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Проверка регистрации и входа пользователя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Проверка добавления и отображения объектов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Проверка процесса бронирования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20E0ED83-F2ED-44C7-9CAE-8FB3748D7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611945"/>
              </p:ext>
            </p:extLst>
          </p:nvPr>
        </p:nvGraphicFramePr>
        <p:xfrm>
          <a:off x="8616489" y="1518742"/>
          <a:ext cx="328687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876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283464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Результаты тестирования: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Все основные функции работают корректно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Ошибки в логике не обнаружены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Система стабильно обрабатывает запросы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A9C52C05-13E5-41C6-B899-18EF86C8C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230883"/>
              </p:ext>
            </p:extLst>
          </p:nvPr>
        </p:nvGraphicFramePr>
        <p:xfrm>
          <a:off x="2792829" y="4972556"/>
          <a:ext cx="6602330" cy="1320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2330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1320135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Оптимизация:</a:t>
                      </a:r>
                    </a:p>
                    <a:p>
                      <a:pPr algn="ctr"/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Оптимизированы SQL-запросы </a:t>
                      </a:r>
                    </a:p>
                    <a:p>
                      <a:pPr algn="ctr"/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Улучшена скорость обработки данных </a:t>
                      </a:r>
                    </a:p>
                    <a:p>
                      <a:pPr algn="ctr"/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Упрощена структура взаимодействия с базой данных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637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dir="u" isContent="1"/>
      </p:transition>
    </mc:Choice>
    <mc:Fallback xmlns="">
      <p:transition spd="slow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Результаты работы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Разработана база данных </a:t>
            </a:r>
            <a:r>
              <a:rPr lang="ru-RU" sz="2000" spc="0" dirty="0" err="1"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. Создано веб-приложение аренды жилья на PHP. Реализованы регистрация и авторизация пользователей. Созданы личный кабинет и административная панель. Добавлены поиск, фильтрация, избранное и заявки. Проведено тестирование системы.</a:t>
            </a:r>
          </a:p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Система может применяться в сервисах аренды жилья; в перспективе — расширение функционала, внедрение онлайн-оплаты и разработка мобильного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3379536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r" isContent="1"/>
      </p:transition>
    </mc:Choice>
    <mc:Fallback xmlns="">
      <p:transition spd="slow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8799B-6D1C-4B1E-B19D-F2A328058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83" y="940499"/>
            <a:ext cx="11903242" cy="5802196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Ответы на вопросы комиссии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8CFA52D-E3FC-41CD-90D2-6F3F593890B8}"/>
              </a:ext>
            </a:extLst>
          </p:cNvPr>
          <p:cNvSpPr txBox="1">
            <a:spLocks/>
          </p:cNvSpPr>
          <p:nvPr/>
        </p:nvSpPr>
        <p:spPr>
          <a:xfrm>
            <a:off x="146384" y="115304"/>
            <a:ext cx="11903242" cy="612607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ru-RU" b="1" spc="0" dirty="0">
                <a:latin typeface="Arial" panose="020B0604020202020204" pitchFamily="34" charset="0"/>
                <a:cs typeface="Arial" panose="020B0604020202020204" pitchFamily="34" charset="0"/>
              </a:rPr>
              <a:t>Санкт-петербургское государственное бюджетное профессиональное образовательное учреждение</a:t>
            </a:r>
          </a:p>
          <a:p>
            <a:pPr>
              <a:lnSpc>
                <a:spcPct val="120000"/>
              </a:lnSpc>
            </a:pPr>
            <a:endParaRPr lang="ru-RU" b="1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b="1" spc="0" dirty="0">
                <a:latin typeface="Arial" panose="020B0604020202020204" pitchFamily="34" charset="0"/>
                <a:cs typeface="Arial" panose="020B0604020202020204" pitchFamily="34" charset="0"/>
              </a:rPr>
              <a:t>«Ижорский политехнический колледж»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8A7F3A-CBA1-45AC-843B-C0D8F7C2B37C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86" y="15140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681F9A7-EB38-4E88-9F25-C7687863235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099" y="15340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170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d" isContent="1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1217</TotalTime>
  <Words>921</Words>
  <Application>Microsoft Office PowerPoint</Application>
  <PresentationFormat>Широкоэкранный</PresentationFormat>
  <Paragraphs>139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Aptos</vt:lpstr>
      <vt:lpstr>Arial</vt:lpstr>
      <vt:lpstr>Consolas</vt:lpstr>
      <vt:lpstr>Corbel</vt:lpstr>
      <vt:lpstr>Gill Sans MT</vt:lpstr>
      <vt:lpstr>Посылка</vt:lpstr>
      <vt:lpstr>Курсовая работа  МДК 11.01 Технология разработки и защиты баз данных  База данных аренды жилья</vt:lpstr>
      <vt:lpstr>Актуальность темы</vt:lpstr>
      <vt:lpstr>Цель и задачи работы</vt:lpstr>
      <vt:lpstr>Анализ предметной области</vt:lpstr>
      <vt:lpstr>Анализ предметной области</vt:lpstr>
      <vt:lpstr>выбор технологий разработки</vt:lpstr>
      <vt:lpstr>Проектирование базы данных</vt:lpstr>
      <vt:lpstr>Логическая модель базы данных</vt:lpstr>
      <vt:lpstr>физическая модель базы данных</vt:lpstr>
      <vt:lpstr>Реализация бизнес-логики в базе данных</vt:lpstr>
      <vt:lpstr>Архитектура веб-приложения</vt:lpstr>
      <vt:lpstr>Реализация бэкенд</vt:lpstr>
      <vt:lpstr>Интерфейс веб-приложения</vt:lpstr>
      <vt:lpstr>Администрирование и защита данных</vt:lpstr>
      <vt:lpstr>Тестирование и оптимизация</vt:lpstr>
      <vt:lpstr>Результаты работы</vt:lpstr>
      <vt:lpstr>Ответы на вопросы комиссии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Teacher</dc:creator>
  <cp:lastModifiedBy>Никита Тихоненков</cp:lastModifiedBy>
  <cp:revision>118</cp:revision>
  <dcterms:created xsi:type="dcterms:W3CDTF">2025-03-28T06:43:39Z</dcterms:created>
  <dcterms:modified xsi:type="dcterms:W3CDTF">2026-04-19T20:33:54Z</dcterms:modified>
</cp:coreProperties>
</file>