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9"/>
  </p:notesMasterIdLst>
  <p:sldIdLst>
    <p:sldId id="256" r:id="rId2"/>
    <p:sldId id="257" r:id="rId3"/>
    <p:sldId id="258" r:id="rId4"/>
    <p:sldId id="273" r:id="rId5"/>
    <p:sldId id="259" r:id="rId6"/>
    <p:sldId id="274" r:id="rId7"/>
    <p:sldId id="260" r:id="rId8"/>
    <p:sldId id="261" r:id="rId9"/>
    <p:sldId id="275" r:id="rId10"/>
    <p:sldId id="262" r:id="rId11"/>
    <p:sldId id="263" r:id="rId12"/>
    <p:sldId id="264" r:id="rId13"/>
    <p:sldId id="269" r:id="rId14"/>
    <p:sldId id="270" r:id="rId15"/>
    <p:sldId id="271" r:id="rId16"/>
    <p:sldId id="272" r:id="rId17"/>
    <p:sldId id="268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8CCF0"/>
    <a:srgbClr val="418AB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0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150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6A742F-06BB-4F49-82EA-40B155807A83}" type="datetimeFigureOut">
              <a:rPr lang="ru-RU" smtClean="0"/>
              <a:t>12.04.2026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A02A38-2D17-4211-9F43-FFE5923202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1563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A02A38-2D17-4211-9F43-FFE5923202C1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9553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9295C-1C7B-4648-87F0-42E1ABBAE4B3}" type="datetimeFigureOut">
              <a:rPr lang="ru-RU" smtClean="0"/>
              <a:t>12.04.2026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B6AD2-AFCE-420E-9AAA-0FB5422D66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63087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000" advClick="0">
        <p14:vortex/>
      </p:transition>
    </mc:Choice>
    <mc:Fallback xmlns="">
      <p:transition spd="slow" advClick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9295C-1C7B-4648-87F0-42E1ABBAE4B3}" type="datetimeFigureOut">
              <a:rPr lang="ru-RU" smtClean="0"/>
              <a:t>12.04.2026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B6AD2-AFCE-420E-9AAA-0FB5422D66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7870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 advClick="0">
        <p14:vortex/>
      </p:transition>
    </mc:Choice>
    <mc:Fallback xmlns="">
      <p:transition spd="slow" advClick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9295C-1C7B-4648-87F0-42E1ABBAE4B3}" type="datetimeFigureOut">
              <a:rPr lang="ru-RU" smtClean="0"/>
              <a:t>12.04.2026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B6AD2-AFCE-420E-9AAA-0FB5422D66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65485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000" advClick="0">
        <p14:vortex/>
      </p:transition>
    </mc:Choice>
    <mc:Fallback xmlns="">
      <p:transition spd="slow" advClick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9295C-1C7B-4648-87F0-42E1ABBAE4B3}" type="datetimeFigureOut">
              <a:rPr lang="ru-RU" smtClean="0"/>
              <a:t>12.04.2026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B6AD2-AFCE-420E-9AAA-0FB5422D66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077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 advClick="0">
        <p14:vortex/>
      </p:transition>
    </mc:Choice>
    <mc:Fallback xmlns="">
      <p:transition spd="slow" advClick="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9295C-1C7B-4648-87F0-42E1ABBAE4B3}" type="datetimeFigureOut">
              <a:rPr lang="ru-RU" smtClean="0"/>
              <a:t>12.04.2026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B6AD2-AFCE-420E-9AAA-0FB5422D66E8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8209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 advClick="0">
        <p14:vortex/>
      </p:transition>
    </mc:Choice>
    <mc:Fallback xmlns="">
      <p:transition spd="slow" advClick="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9295C-1C7B-4648-87F0-42E1ABBAE4B3}" type="datetimeFigureOut">
              <a:rPr lang="ru-RU" smtClean="0"/>
              <a:t>12.04.2026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B6AD2-AFCE-420E-9AAA-0FB5422D66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3115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 advClick="0">
        <p14:vortex/>
      </p:transition>
    </mc:Choice>
    <mc:Fallback xmlns="">
      <p:transition spd="slow" advClick="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9295C-1C7B-4648-87F0-42E1ABBAE4B3}" type="datetimeFigureOut">
              <a:rPr lang="ru-RU" smtClean="0"/>
              <a:t>12.04.2026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B6AD2-AFCE-420E-9AAA-0FB5422D66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2916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 advClick="0">
        <p14:vortex/>
      </p:transition>
    </mc:Choice>
    <mc:Fallback xmlns="">
      <p:transition spd="slow" advClick="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9295C-1C7B-4648-87F0-42E1ABBAE4B3}" type="datetimeFigureOut">
              <a:rPr lang="ru-RU" smtClean="0"/>
              <a:t>12.04.2026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67503" cy="320040"/>
          </a:xfrm>
        </p:spPr>
        <p:txBody>
          <a:bodyPr/>
          <a:lstStyle>
            <a:lvl1pPr>
              <a:defRPr>
                <a:solidFill>
                  <a:srgbClr val="FFFFFF">
                    <a:alpha val="69804"/>
                  </a:srgb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B6AD2-AFCE-420E-9AAA-0FB5422D66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6184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 advClick="0">
        <p14:vortex/>
      </p:transition>
    </mc:Choice>
    <mc:Fallback xmlns="">
      <p:transition spd="slow" advClick="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9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E139295C-1C7B-4648-87F0-42E1ABBAE4B3}" type="datetimeFigureOut">
              <a:rPr lang="ru-RU" smtClean="0"/>
              <a:t>12.04.2026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8523" y="6236208"/>
            <a:ext cx="5103729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B6AD2-AFCE-420E-9AAA-0FB5422D66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0156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 advClick="0">
        <p14:vortex/>
      </p:transition>
    </mc:Choice>
    <mc:Fallback xmlns="">
      <p:transition spd="slow" advClick="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9295C-1C7B-4648-87F0-42E1ABBAE4B3}" type="datetimeFigureOut">
              <a:rPr lang="ru-RU" smtClean="0"/>
              <a:t>12.04.2026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B6AD2-AFCE-420E-9AAA-0FB5422D66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7331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 advClick="0">
        <p14:vortex/>
      </p:transition>
    </mc:Choice>
    <mc:Fallback xmlns="">
      <p:transition spd="slow" advClick="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9295C-1C7B-4648-87F0-42E1ABBAE4B3}" type="datetimeFigureOut">
              <a:rPr lang="ru-RU" smtClean="0"/>
              <a:t>12.04.2026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B6AD2-AFCE-420E-9AAA-0FB5422D66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3746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 advClick="0">
        <p14:vortex/>
      </p:transition>
    </mc:Choice>
    <mc:Fallback xmlns="">
      <p:transition spd="slow" advClick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E139295C-1C7B-4648-87F0-42E1ABBAE4B3}" type="datetimeFigureOut">
              <a:rPr lang="ru-RU" smtClean="0"/>
              <a:t>12.04.2026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6A0B6AD2-AFCE-420E-9AAA-0FB5422D66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148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mc:AlternateContent xmlns:mc="http://schemas.openxmlformats.org/markup-compatibility/2006" xmlns:p14="http://schemas.microsoft.com/office/powerpoint/2010/main">
    <mc:Choice Requires="p14">
      <p:transition spd="slow" p14:dur="3000" advClick="0">
        <p14:vortex/>
      </p:transition>
    </mc:Choice>
    <mc:Fallback xmlns="">
      <p:transition spd="slow" advClick="0">
        <p:fade/>
      </p:transition>
    </mc:Fallback>
  </mc:AlternateConten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C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C8799B-6D1C-4B1E-B19D-F2A3280585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83" y="940499"/>
            <a:ext cx="11903242" cy="3417987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Курсовая работа</a:t>
            </a:r>
            <a:b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МДК 11.01 Технология разработки и</a:t>
            </a:r>
            <a:b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защиты баз данных</a:t>
            </a:r>
            <a:b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База данных аренды жилья</a:t>
            </a:r>
            <a:endParaRPr lang="ru-RU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E8CFA52D-E3FC-41CD-90D2-6F3F593890B8}"/>
              </a:ext>
            </a:extLst>
          </p:cNvPr>
          <p:cNvSpPr txBox="1">
            <a:spLocks/>
          </p:cNvSpPr>
          <p:nvPr/>
        </p:nvSpPr>
        <p:spPr>
          <a:xfrm>
            <a:off x="146384" y="115304"/>
            <a:ext cx="11903242" cy="612607"/>
          </a:xfrm>
          <a:prstGeom prst="rect">
            <a:avLst/>
          </a:prstGeom>
          <a:solidFill>
            <a:srgbClr val="FFFFFF"/>
          </a:solidFill>
          <a:ln w="38100" cap="sq">
            <a:solidFill>
              <a:srgbClr val="404040"/>
            </a:solidFill>
            <a:miter lim="800000"/>
          </a:ln>
        </p:spPr>
        <p:txBody>
          <a:bodyPr vert="horz" lIns="274320" tIns="182880" rIns="274320" bIns="182880" rtlCol="0" anchor="ctr" anchorCtr="1">
            <a:normAutofit fontScale="2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ru-RU" b="1" spc="0" dirty="0">
                <a:latin typeface="Arial" panose="020B0604020202020204" pitchFamily="34" charset="0"/>
                <a:cs typeface="Arial" panose="020B0604020202020204" pitchFamily="34" charset="0"/>
              </a:rPr>
              <a:t>Санкт-петербургское государственное бюджетное профессиональное образовательное учреждение</a:t>
            </a:r>
          </a:p>
          <a:p>
            <a:pPr>
              <a:lnSpc>
                <a:spcPct val="120000"/>
              </a:lnSpc>
            </a:pPr>
            <a:endParaRPr lang="ru-RU" b="1" spc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ru-RU" b="1" spc="0" dirty="0">
                <a:latin typeface="Arial" panose="020B0604020202020204" pitchFamily="34" charset="0"/>
                <a:cs typeface="Arial" panose="020B0604020202020204" pitchFamily="34" charset="0"/>
              </a:rPr>
              <a:t>«Ижорский политехнический колледж»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D8A7F3A-CBA1-45AC-843B-C0D8F7C2B37C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486" y="151400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8681F9A7-EB38-4E88-9F25-C7687863235B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6099" y="153401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FCBF1417-9BD1-41FB-B001-214A78435DBC}"/>
              </a:ext>
            </a:extLst>
          </p:cNvPr>
          <p:cNvSpPr txBox="1">
            <a:spLocks/>
          </p:cNvSpPr>
          <p:nvPr/>
        </p:nvSpPr>
        <p:spPr>
          <a:xfrm>
            <a:off x="6095999" y="4600135"/>
            <a:ext cx="5949617" cy="2142560"/>
          </a:xfrm>
          <a:prstGeom prst="rect">
            <a:avLst/>
          </a:prstGeom>
          <a:solidFill>
            <a:srgbClr val="FFFFFF"/>
          </a:solidFill>
          <a:ln w="38100" cap="sq">
            <a:solidFill>
              <a:srgbClr val="404040"/>
            </a:solidFill>
            <a:miter lim="800000"/>
          </a:ln>
        </p:spPr>
        <p:txBody>
          <a:bodyPr vert="horz" lIns="118800" tIns="118800" rIns="118800" bIns="118800" rtlCol="0" anchor="ctr" anchorCtr="0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ru-RU" sz="2000" spc="0" dirty="0">
                <a:latin typeface="Arial" panose="020B0604020202020204" pitchFamily="34" charset="0"/>
                <a:cs typeface="Arial" panose="020B0604020202020204" pitchFamily="34" charset="0"/>
              </a:rPr>
              <a:t>Руководитель:</a:t>
            </a:r>
          </a:p>
          <a:p>
            <a:pPr algn="l">
              <a:lnSpc>
                <a:spcPct val="150000"/>
              </a:lnSpc>
            </a:pPr>
            <a:endParaRPr lang="ru-RU" sz="2000" spc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50000"/>
              </a:lnSpc>
            </a:pPr>
            <a:r>
              <a:rPr lang="ru-RU" sz="2000" spc="0" dirty="0">
                <a:latin typeface="Arial" panose="020B0604020202020204" pitchFamily="34" charset="0"/>
                <a:cs typeface="Arial" panose="020B0604020202020204" pitchFamily="34" charset="0"/>
              </a:rPr>
              <a:t>Преподаватель спец. Дисциплин</a:t>
            </a:r>
          </a:p>
          <a:p>
            <a:pPr algn="l">
              <a:lnSpc>
                <a:spcPct val="150000"/>
              </a:lnSpc>
            </a:pPr>
            <a:r>
              <a:rPr lang="ru-RU" sz="2000" spc="0" dirty="0">
                <a:latin typeface="Arial" panose="020B0604020202020204" pitchFamily="34" charset="0"/>
                <a:cs typeface="Arial" panose="020B0604020202020204" pitchFamily="34" charset="0"/>
              </a:rPr>
              <a:t>по специальности 09.02.07</a:t>
            </a:r>
          </a:p>
          <a:p>
            <a:pPr algn="l">
              <a:lnSpc>
                <a:spcPct val="150000"/>
              </a:lnSpc>
            </a:pPr>
            <a:r>
              <a:rPr lang="ru-RU" sz="2000" spc="0" dirty="0">
                <a:latin typeface="Arial" panose="020B0604020202020204" pitchFamily="34" charset="0"/>
                <a:cs typeface="Arial" panose="020B0604020202020204" pitchFamily="34" charset="0"/>
              </a:rPr>
              <a:t>Венедиктов Дмитрий Викторович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5520369F-0405-4705-AEC0-6B1E04846B84}"/>
              </a:ext>
            </a:extLst>
          </p:cNvPr>
          <p:cNvSpPr txBox="1">
            <a:spLocks/>
          </p:cNvSpPr>
          <p:nvPr/>
        </p:nvSpPr>
        <p:spPr>
          <a:xfrm>
            <a:off x="146383" y="4600135"/>
            <a:ext cx="5949618" cy="2142560"/>
          </a:xfrm>
          <a:prstGeom prst="rect">
            <a:avLst/>
          </a:prstGeom>
          <a:solidFill>
            <a:srgbClr val="FFFFFF"/>
          </a:solidFill>
          <a:ln w="38100" cap="sq">
            <a:solidFill>
              <a:srgbClr val="404040"/>
            </a:solidFill>
            <a:miter lim="800000"/>
          </a:ln>
        </p:spPr>
        <p:txBody>
          <a:bodyPr vert="horz" lIns="118800" tIns="118800" rIns="118800" bIns="11880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ru-RU" sz="2000" spc="0" dirty="0">
                <a:latin typeface="Arial" panose="020B0604020202020204" pitchFamily="34" charset="0"/>
                <a:cs typeface="Arial" panose="020B0604020202020204" pitchFamily="34" charset="0"/>
              </a:rPr>
              <a:t>Выполнил Студент группы 231с</a:t>
            </a:r>
          </a:p>
          <a:p>
            <a:pPr algn="l">
              <a:lnSpc>
                <a:spcPct val="150000"/>
              </a:lnSpc>
            </a:pPr>
            <a:r>
              <a:rPr lang="ru-RU" sz="2000" spc="0" dirty="0">
                <a:latin typeface="Arial" panose="020B0604020202020204" pitchFamily="34" charset="0"/>
                <a:cs typeface="Arial" panose="020B0604020202020204" pitchFamily="34" charset="0"/>
              </a:rPr>
              <a:t>ТИХОНЕНКОВ Н.А.</a:t>
            </a:r>
          </a:p>
        </p:txBody>
      </p:sp>
    </p:spTree>
    <p:extLst>
      <p:ext uri="{BB962C8B-B14F-4D97-AF65-F5344CB8AC3E}">
        <p14:creationId xmlns:p14="http://schemas.microsoft.com/office/powerpoint/2010/main" val="1325838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 advClick="0"/>
    </mc:Choice>
    <mc:Fallback xmlns="">
      <p:transition spd="slow"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C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A91570-A256-4D1F-A84A-03396E6AB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411" y="92403"/>
            <a:ext cx="11881184" cy="1188720"/>
          </a:xfrm>
          <a:solidFill>
            <a:srgbClr val="FFFFFF"/>
          </a:solidFill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pc="0" dirty="0">
                <a:latin typeface="Arial" panose="020B0604020202020204" pitchFamily="34" charset="0"/>
                <a:cs typeface="Arial" panose="020B0604020202020204" pitchFamily="34" charset="0"/>
              </a:rPr>
              <a:t>Актуальность темы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80CC4CF-FBCF-4B07-9929-C2964D1D7E18}"/>
              </a:ext>
            </a:extLst>
          </p:cNvPr>
          <p:cNvSpPr txBox="1">
            <a:spLocks/>
          </p:cNvSpPr>
          <p:nvPr/>
        </p:nvSpPr>
        <p:spPr>
          <a:xfrm>
            <a:off x="156411" y="1381787"/>
            <a:ext cx="11881184" cy="5383810"/>
          </a:xfrm>
          <a:prstGeom prst="rect">
            <a:avLst/>
          </a:prstGeom>
          <a:solidFill>
            <a:srgbClr val="FFFFFF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DB9D85-69EC-4E0B-9EC1-01BCECD448D1}"/>
              </a:ext>
            </a:extLst>
          </p:cNvPr>
          <p:cNvSpPr txBox="1"/>
          <p:nvPr/>
        </p:nvSpPr>
        <p:spPr>
          <a:xfrm>
            <a:off x="581890" y="1698171"/>
            <a:ext cx="1108561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Рост популярности онлайн-сервисов аренды жилья</a:t>
            </a:r>
          </a:p>
          <a:p>
            <a:pPr marL="342900" indent="-34290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Необходимость хранения информации об объектах и клиентах</a:t>
            </a:r>
          </a:p>
          <a:p>
            <a:pPr marL="342900" indent="-34290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Автоматизация процессов бронирования</a:t>
            </a:r>
          </a:p>
          <a:p>
            <a:pPr marL="342900" indent="-34290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Упрощение управления объявлениями</a:t>
            </a:r>
          </a:p>
          <a:p>
            <a:pPr marL="342900" indent="-34290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Повышение удобства для пользователей</a:t>
            </a:r>
          </a:p>
          <a:p>
            <a:pPr marL="342900" indent="-34290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Развитие онлайн сервисов 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28362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 advClick="0">
        <p14:prism isContent="1"/>
      </p:transition>
    </mc:Choice>
    <mc:Fallback xmlns="">
      <p:transition spd="slow" advClick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C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A91570-A256-4D1F-A84A-03396E6AB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411" y="92403"/>
            <a:ext cx="11881184" cy="1188720"/>
          </a:xfrm>
          <a:solidFill>
            <a:srgbClr val="FFFFFF"/>
          </a:solidFill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pc="0" dirty="0">
                <a:latin typeface="Arial" panose="020B0604020202020204" pitchFamily="34" charset="0"/>
                <a:cs typeface="Arial" panose="020B0604020202020204" pitchFamily="34" charset="0"/>
              </a:rPr>
              <a:t>Цель и задачи работы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80CC4CF-FBCF-4B07-9929-C2964D1D7E18}"/>
              </a:ext>
            </a:extLst>
          </p:cNvPr>
          <p:cNvSpPr txBox="1">
            <a:spLocks/>
          </p:cNvSpPr>
          <p:nvPr/>
        </p:nvSpPr>
        <p:spPr>
          <a:xfrm>
            <a:off x="156411" y="1381787"/>
            <a:ext cx="11881184" cy="5383810"/>
          </a:xfrm>
          <a:prstGeom prst="rect">
            <a:avLst/>
          </a:prstGeom>
          <a:solidFill>
            <a:srgbClr val="FFFFFF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ru-RU" sz="2000" spc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7FC013-94FF-446B-A90D-21C2B993491D}"/>
              </a:ext>
            </a:extLst>
          </p:cNvPr>
          <p:cNvSpPr txBox="1"/>
          <p:nvPr/>
        </p:nvSpPr>
        <p:spPr>
          <a:xfrm>
            <a:off x="413656" y="1537854"/>
            <a:ext cx="11881184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b="1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Цель: </a:t>
            </a:r>
            <a: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Проектирование базы данных аренды жилья и разработка веб-приложения для работы с ней</a:t>
            </a:r>
          </a:p>
          <a:p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0500D8-FF0E-4FDB-A845-CAFD30C4EEB3}"/>
              </a:ext>
            </a:extLst>
          </p:cNvPr>
          <p:cNvSpPr txBox="1"/>
          <p:nvPr/>
        </p:nvSpPr>
        <p:spPr>
          <a:xfrm>
            <a:off x="413656" y="2707405"/>
            <a:ext cx="1144781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Задачи:</a:t>
            </a:r>
            <a:b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• Анализ предметной области</a:t>
            </a:r>
            <a:b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• Проектирование базы данных</a:t>
            </a:r>
            <a:b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• Разработка </a:t>
            </a:r>
            <a:r>
              <a:rPr lang="ru-RU" sz="2000" cap="all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фронтенда</a:t>
            </a:r>
            <a:b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• Разработка бэкенда</a:t>
            </a:r>
            <a:b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• Тестирование системы</a:t>
            </a:r>
            <a:b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• Реализация аутентификации</a:t>
            </a:r>
          </a:p>
        </p:txBody>
      </p:sp>
    </p:spTree>
    <p:extLst>
      <p:ext uri="{BB962C8B-B14F-4D97-AF65-F5344CB8AC3E}">
        <p14:creationId xmlns:p14="http://schemas.microsoft.com/office/powerpoint/2010/main" val="1921124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 advClick="0">
        <p14:prism dir="u" isContent="1"/>
      </p:transition>
    </mc:Choice>
    <mc:Fallback xmlns="">
      <p:transition spd="slow" advClick="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C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A91570-A256-4D1F-A84A-03396E6AB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411" y="92403"/>
            <a:ext cx="11881184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pc="0" dirty="0">
                <a:latin typeface="Arial" panose="020B0604020202020204" pitchFamily="34" charset="0"/>
                <a:cs typeface="Arial" panose="020B0604020202020204" pitchFamily="34" charset="0"/>
              </a:rPr>
              <a:t>Анализ предметной области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80CC4CF-FBCF-4B07-9929-C2964D1D7E18}"/>
              </a:ext>
            </a:extLst>
          </p:cNvPr>
          <p:cNvSpPr txBox="1">
            <a:spLocks/>
          </p:cNvSpPr>
          <p:nvPr/>
        </p:nvSpPr>
        <p:spPr>
          <a:xfrm>
            <a:off x="155407" y="1381787"/>
            <a:ext cx="11881184" cy="5383810"/>
          </a:xfrm>
          <a:prstGeom prst="rect">
            <a:avLst/>
          </a:prstGeom>
          <a:solidFill>
            <a:srgbClr val="FFFFFF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en-US" sz="2000" spc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endParaRPr lang="en-US" sz="2000" spc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endParaRPr lang="en-US" sz="2000" spc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endParaRPr lang="ru-RU" sz="2000" spc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endParaRPr lang="ru-RU" sz="2000" spc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endParaRPr lang="en-US" sz="2000" spc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Таблица 4">
            <a:extLst>
              <a:ext uri="{FF2B5EF4-FFF2-40B4-BE49-F238E27FC236}">
                <a16:creationId xmlns:a16="http://schemas.microsoft.com/office/drawing/2014/main" id="{C150D75E-7173-4FEE-833F-D98513D5FF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0933857"/>
              </p:ext>
            </p:extLst>
          </p:nvPr>
        </p:nvGraphicFramePr>
        <p:xfrm>
          <a:off x="1737426" y="1850634"/>
          <a:ext cx="8717148" cy="25908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358574">
                  <a:extLst>
                    <a:ext uri="{9D8B030D-6E8A-4147-A177-3AD203B41FA5}">
                      <a16:colId xmlns:a16="http://schemas.microsoft.com/office/drawing/2014/main" val="106229650"/>
                    </a:ext>
                  </a:extLst>
                </a:gridCol>
                <a:gridCol w="4358574">
                  <a:extLst>
                    <a:ext uri="{9D8B030D-6E8A-4147-A177-3AD203B41FA5}">
                      <a16:colId xmlns:a16="http://schemas.microsoft.com/office/drawing/2014/main" val="26412004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ru-RU" sz="2600" b="1" kern="1200" cap="all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сервис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8CC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ru-RU" sz="2600" kern="1200" cap="all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Функции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C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9944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000" kern="1200" cap="none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Avito</a:t>
                      </a:r>
                      <a:r>
                        <a:rPr lang="en-US" sz="2000" kern="1200" cap="none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2000" kern="1200" cap="none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Недвижимость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kern="1200" cap="none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Размещение объявлений </a:t>
                      </a:r>
                      <a:br>
                        <a:rPr lang="ru-RU" sz="2000" kern="1200" cap="none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ru-RU" sz="2000" kern="1200" cap="none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Поиск объектов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83596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kern="1200" cap="none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Cian</a:t>
                      </a:r>
                      <a:endParaRPr lang="ru-RU" sz="2000" kern="1200" cap="none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2000" kern="1200" cap="none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Фильтрация объявлений</a:t>
                      </a:r>
                    </a:p>
                    <a:p>
                      <a:pPr marL="0" algn="l" defTabSz="914400" rtl="0" eaLnBrk="1" latinLnBrk="0" hangingPunct="1"/>
                      <a:r>
                        <a:rPr lang="ru-RU" sz="2000" kern="1200" cap="none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Работа с пользователями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2448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kern="1200" cap="none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Airbnb</a:t>
                      </a:r>
                      <a:endParaRPr lang="ru-RU" sz="2000" kern="1200" cap="none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ru-RU" sz="2000" kern="1200" cap="none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Бронирование жилья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ru-RU" sz="2000" kern="1200" cap="none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Система оплаты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665899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05F0A8F-3C59-4E32-B360-012A91C09A5F}"/>
              </a:ext>
            </a:extLst>
          </p:cNvPr>
          <p:cNvSpPr txBox="1"/>
          <p:nvPr/>
        </p:nvSpPr>
        <p:spPr>
          <a:xfrm>
            <a:off x="2002020" y="4983524"/>
            <a:ext cx="87171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sz="2000" b="1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Основные функции: </a:t>
            </a:r>
            <a: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регистрация, размещение объявлений, управление объектами и бронирование.</a:t>
            </a:r>
          </a:p>
        </p:txBody>
      </p:sp>
    </p:spTree>
    <p:extLst>
      <p:ext uri="{BB962C8B-B14F-4D97-AF65-F5344CB8AC3E}">
        <p14:creationId xmlns:p14="http://schemas.microsoft.com/office/powerpoint/2010/main" val="21428547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000" advClick="0">
        <p14:prism dir="r" isContent="1"/>
      </p:transition>
    </mc:Choice>
    <mc:Fallback xmlns="">
      <p:transition spd="slow" advClick="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C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A91570-A256-4D1F-A84A-03396E6AB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411" y="92403"/>
            <a:ext cx="11881184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pc="0" dirty="0">
                <a:latin typeface="Arial" panose="020B0604020202020204" pitchFamily="34" charset="0"/>
                <a:cs typeface="Arial" panose="020B0604020202020204" pitchFamily="34" charset="0"/>
              </a:rPr>
              <a:t>Анализ предметной области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80CC4CF-FBCF-4B07-9929-C2964D1D7E18}"/>
              </a:ext>
            </a:extLst>
          </p:cNvPr>
          <p:cNvSpPr txBox="1">
            <a:spLocks/>
          </p:cNvSpPr>
          <p:nvPr/>
        </p:nvSpPr>
        <p:spPr>
          <a:xfrm>
            <a:off x="155408" y="1381787"/>
            <a:ext cx="11881184" cy="5383810"/>
          </a:xfrm>
          <a:prstGeom prst="rect">
            <a:avLst/>
          </a:prstGeom>
          <a:solidFill>
            <a:srgbClr val="FFFFFF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2000" spc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1A4691-853F-4012-BC0A-255B49FF56B0}"/>
              </a:ext>
            </a:extLst>
          </p:cNvPr>
          <p:cNvSpPr txBox="1"/>
          <p:nvPr/>
        </p:nvSpPr>
        <p:spPr>
          <a:xfrm>
            <a:off x="201927" y="1425057"/>
            <a:ext cx="37585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/>
              <a:t>🐬</a:t>
            </a:r>
            <a:r>
              <a:rPr lang="ru-RU" sz="2500" b="1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MySQL</a:t>
            </a:r>
            <a:endParaRPr lang="ru-RU" sz="2500" cap="all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  <a:p>
            <a: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– популярная СУБД  </a:t>
            </a:r>
          </a:p>
          <a:p>
            <a: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– требует сервер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3EBB3D-31E2-47BA-BFA9-86354F7A859D}"/>
              </a:ext>
            </a:extLst>
          </p:cNvPr>
          <p:cNvSpPr txBox="1"/>
          <p:nvPr/>
        </p:nvSpPr>
        <p:spPr>
          <a:xfrm>
            <a:off x="7563598" y="1397990"/>
            <a:ext cx="442647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/>
              <a:t>🐘</a:t>
            </a:r>
            <a:r>
              <a:rPr lang="ru-RU" sz="2500" b="1" dirty="0" err="1">
                <a:latin typeface="Arial" panose="020B0604020202020204" pitchFamily="34" charset="0"/>
                <a:cs typeface="Arial" panose="020B0604020202020204" pitchFamily="34" charset="0"/>
              </a:rPr>
              <a:t>PostgreSQL</a:t>
            </a:r>
            <a:b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– мощная СУБД </a:t>
            </a:r>
            <a:b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– подходит для сложных систем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0C8930-105D-4566-9AE7-15F9AB694921}"/>
              </a:ext>
            </a:extLst>
          </p:cNvPr>
          <p:cNvSpPr txBox="1"/>
          <p:nvPr/>
        </p:nvSpPr>
        <p:spPr>
          <a:xfrm>
            <a:off x="3668755" y="2258621"/>
            <a:ext cx="4195085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/>
              <a:t>🗄️</a:t>
            </a:r>
            <a:r>
              <a:rPr lang="ru-RU" sz="3400" b="1" dirty="0" err="1">
                <a:latin typeface="Arial" panose="020B0604020202020204" pitchFamily="34" charset="0"/>
                <a:cs typeface="Arial" panose="020B0604020202020204" pitchFamily="34" charset="0"/>
              </a:rPr>
              <a:t>SQLite</a:t>
            </a:r>
            <a:b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– встроенная СУБД</a:t>
            </a:r>
            <a:b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– не требует сервера </a:t>
            </a:r>
            <a:b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– проста в использовании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95E4BB-293E-4D6D-B295-63925AB3F44C}"/>
              </a:ext>
            </a:extLst>
          </p:cNvPr>
          <p:cNvSpPr txBox="1"/>
          <p:nvPr/>
        </p:nvSpPr>
        <p:spPr>
          <a:xfrm>
            <a:off x="5652655" y="2986644"/>
            <a:ext cx="261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9A92F4-99DC-41B2-895E-440D57843E97}"/>
              </a:ext>
            </a:extLst>
          </p:cNvPr>
          <p:cNvSpPr txBox="1"/>
          <p:nvPr/>
        </p:nvSpPr>
        <p:spPr>
          <a:xfrm>
            <a:off x="3059826" y="4591480"/>
            <a:ext cx="5708172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sz="2000" b="1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Выбор: </a:t>
            </a:r>
            <a:r>
              <a:rPr lang="ru-RU" sz="2000" b="1" cap="all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SQLite</a:t>
            </a:r>
            <a:b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✔ простота </a:t>
            </a:r>
            <a:b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✔ не требует сервера </a:t>
            </a:r>
            <a:b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✔ подходит для учебного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16702750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14:prism dir="d" isContent="1"/>
      </p:transition>
    </mc:Choice>
    <mc:Fallback xmlns="">
      <p:transition spd="slow" advClick="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C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A91570-A256-4D1F-A84A-03396E6AB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411" y="92403"/>
            <a:ext cx="11881184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pc="0" dirty="0">
                <a:latin typeface="Arial" panose="020B0604020202020204" pitchFamily="34" charset="0"/>
                <a:cs typeface="Arial" panose="020B0604020202020204" pitchFamily="34" charset="0"/>
              </a:rPr>
              <a:t>выбор </a:t>
            </a:r>
            <a:r>
              <a:rPr lang="ru-RU" spc="0">
                <a:latin typeface="Arial" panose="020B0604020202020204" pitchFamily="34" charset="0"/>
                <a:cs typeface="Arial" panose="020B0604020202020204" pitchFamily="34" charset="0"/>
              </a:rPr>
              <a:t>технологий разработки</a:t>
            </a:r>
            <a:endParaRPr lang="ru-RU" spc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80CC4CF-FBCF-4B07-9929-C2964D1D7E18}"/>
              </a:ext>
            </a:extLst>
          </p:cNvPr>
          <p:cNvSpPr txBox="1">
            <a:spLocks/>
          </p:cNvSpPr>
          <p:nvPr/>
        </p:nvSpPr>
        <p:spPr>
          <a:xfrm>
            <a:off x="151449" y="1381787"/>
            <a:ext cx="11881184" cy="5383810"/>
          </a:xfrm>
          <a:prstGeom prst="rect">
            <a:avLst/>
          </a:prstGeom>
          <a:solidFill>
            <a:srgbClr val="FFFFFF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ru-RU" sz="2000" spc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A6E96F-8C79-4D40-98BA-E18E979AD7A5}"/>
              </a:ext>
            </a:extLst>
          </p:cNvPr>
          <p:cNvSpPr txBox="1"/>
          <p:nvPr/>
        </p:nvSpPr>
        <p:spPr>
          <a:xfrm>
            <a:off x="231569" y="1460665"/>
            <a:ext cx="1172094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7E5BEB-609E-4EB0-8A26-0D62560A165C}"/>
              </a:ext>
            </a:extLst>
          </p:cNvPr>
          <p:cNvSpPr txBox="1"/>
          <p:nvPr/>
        </p:nvSpPr>
        <p:spPr>
          <a:xfrm>
            <a:off x="409686" y="1951672"/>
            <a:ext cx="569225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000" b="1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🟢Node.js</a:t>
            </a:r>
            <a:r>
              <a:rPr lang="en-US" sz="3000" b="1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– </a:t>
            </a:r>
            <a:r>
              <a:rPr lang="ru-RU" sz="3000" b="1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сервер </a:t>
            </a:r>
          </a:p>
          <a:p>
            <a:endParaRPr lang="ru-RU" sz="3000" b="1" cap="all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  <a:p>
            <a:r>
              <a:rPr lang="ru-RU" sz="3000" b="1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🗄️</a:t>
            </a:r>
            <a:r>
              <a:rPr lang="ru-RU" sz="3000" b="1" cap="all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SQLite</a:t>
            </a:r>
            <a:r>
              <a:rPr lang="en-US" sz="3000" b="1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– </a:t>
            </a:r>
            <a:r>
              <a:rPr lang="ru-RU" sz="3000" b="1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база данных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E1DE63-2637-458C-9457-08B0BD2B1D1A}"/>
              </a:ext>
            </a:extLst>
          </p:cNvPr>
          <p:cNvSpPr txBox="1"/>
          <p:nvPr/>
        </p:nvSpPr>
        <p:spPr>
          <a:xfrm>
            <a:off x="5974353" y="1951672"/>
            <a:ext cx="593563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000" b="1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🌐HTML, CSS</a:t>
            </a:r>
            <a:r>
              <a:rPr lang="en-US" sz="3000" b="1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– </a:t>
            </a:r>
            <a:r>
              <a:rPr lang="ru-RU" sz="3000" b="1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интерфейс </a:t>
            </a:r>
          </a:p>
          <a:p>
            <a:endParaRPr lang="ru-RU" sz="3000" b="1" cap="all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  <a:p>
            <a:r>
              <a:rPr lang="ru-RU" sz="3000" b="1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⚡JavaScript</a:t>
            </a:r>
            <a:r>
              <a:rPr lang="en-US" sz="3000" b="1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– </a:t>
            </a:r>
            <a:r>
              <a:rPr lang="ru-RU" sz="3000" b="1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логика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55099D-3AF8-4753-AD0F-2DC5E5E74889}"/>
              </a:ext>
            </a:extLst>
          </p:cNvPr>
          <p:cNvSpPr txBox="1"/>
          <p:nvPr/>
        </p:nvSpPr>
        <p:spPr>
          <a:xfrm>
            <a:off x="409686" y="4225584"/>
            <a:ext cx="115428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Выбор технологий обусловлен их простотой и соответствием требованиям проекта.</a:t>
            </a:r>
          </a:p>
        </p:txBody>
      </p:sp>
    </p:spTree>
    <p:extLst>
      <p:ext uri="{BB962C8B-B14F-4D97-AF65-F5344CB8AC3E}">
        <p14:creationId xmlns:p14="http://schemas.microsoft.com/office/powerpoint/2010/main" val="22055826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prism isContent="1"/>
      </p:transition>
    </mc:Choice>
    <mc:Fallback xmlns="">
      <p:transition spd="slow" advClick="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C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A91570-A256-4D1F-A84A-03396E6AB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411" y="92403"/>
            <a:ext cx="11881184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pc="0" dirty="0">
                <a:latin typeface="Arial" panose="020B0604020202020204" pitchFamily="34" charset="0"/>
                <a:cs typeface="Arial" panose="020B0604020202020204" pitchFamily="34" charset="0"/>
              </a:rPr>
              <a:t>Проектирование базы данных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80CC4CF-FBCF-4B07-9929-C2964D1D7E18}"/>
              </a:ext>
            </a:extLst>
          </p:cNvPr>
          <p:cNvSpPr txBox="1">
            <a:spLocks/>
          </p:cNvSpPr>
          <p:nvPr/>
        </p:nvSpPr>
        <p:spPr>
          <a:xfrm>
            <a:off x="155408" y="1381787"/>
            <a:ext cx="11881184" cy="5383810"/>
          </a:xfrm>
          <a:prstGeom prst="rect">
            <a:avLst/>
          </a:prstGeom>
          <a:solidFill>
            <a:srgbClr val="FFFFFF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ru-RU" sz="2000" spc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397D316-E823-433F-9DA8-0465D1396A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071" y="1456131"/>
            <a:ext cx="11345858" cy="34580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405955A-9588-4166-B457-66934DF876D0}"/>
              </a:ext>
            </a:extLst>
          </p:cNvPr>
          <p:cNvSpPr txBox="1"/>
          <p:nvPr/>
        </p:nvSpPr>
        <p:spPr>
          <a:xfrm>
            <a:off x="423071" y="5303520"/>
            <a:ext cx="113458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Структура базы данных и связи между сущностями системы.</a:t>
            </a:r>
          </a:p>
        </p:txBody>
      </p:sp>
    </p:spTree>
    <p:extLst>
      <p:ext uri="{BB962C8B-B14F-4D97-AF65-F5344CB8AC3E}">
        <p14:creationId xmlns:p14="http://schemas.microsoft.com/office/powerpoint/2010/main" val="3871450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prism dir="u" isContent="1"/>
      </p:transition>
    </mc:Choice>
    <mc:Fallback xmlns="">
      <p:transition spd="slow" advClick="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C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A91570-A256-4D1F-A84A-03396E6AB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411" y="92403"/>
            <a:ext cx="11881184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pc="0" dirty="0">
                <a:latin typeface="Arial" panose="020B0604020202020204" pitchFamily="34" charset="0"/>
                <a:cs typeface="Arial" panose="020B0604020202020204" pitchFamily="34" charset="0"/>
              </a:rPr>
              <a:t>Логическая модель базы данных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80CC4CF-FBCF-4B07-9929-C2964D1D7E18}"/>
              </a:ext>
            </a:extLst>
          </p:cNvPr>
          <p:cNvSpPr txBox="1">
            <a:spLocks/>
          </p:cNvSpPr>
          <p:nvPr/>
        </p:nvSpPr>
        <p:spPr>
          <a:xfrm>
            <a:off x="156411" y="1381787"/>
            <a:ext cx="11881184" cy="5383810"/>
          </a:xfrm>
          <a:prstGeom prst="rect">
            <a:avLst/>
          </a:prstGeom>
          <a:solidFill>
            <a:srgbClr val="FFFFFF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ru-RU" sz="2000" spc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D2F57C1-6016-4CAD-9D47-99E8089899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097" y="1538023"/>
            <a:ext cx="11507806" cy="37819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90BC16-9485-4A4D-9BDC-FAF42E4C2277}"/>
              </a:ext>
            </a:extLst>
          </p:cNvPr>
          <p:cNvSpPr txBox="1"/>
          <p:nvPr/>
        </p:nvSpPr>
        <p:spPr>
          <a:xfrm>
            <a:off x="342097" y="5425440"/>
            <a:ext cx="115078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Схема данных отражает структуру базы данных, включая таблицы, их атрибуты и связи между сущностями системы аренды жилья.</a:t>
            </a:r>
          </a:p>
        </p:txBody>
      </p:sp>
    </p:spTree>
    <p:extLst>
      <p:ext uri="{BB962C8B-B14F-4D97-AF65-F5344CB8AC3E}">
        <p14:creationId xmlns:p14="http://schemas.microsoft.com/office/powerpoint/2010/main" val="2195030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14:prism dir="r" isContent="1"/>
      </p:transition>
    </mc:Choice>
    <mc:Fallback xmlns="">
      <p:transition spd="slow" advClick="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C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A91570-A256-4D1F-A84A-03396E6AB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411" y="92403"/>
            <a:ext cx="11881184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pc="0" dirty="0">
                <a:latin typeface="Arial" panose="020B0604020202020204" pitchFamily="34" charset="0"/>
                <a:cs typeface="Arial" panose="020B0604020202020204" pitchFamily="34" charset="0"/>
              </a:rPr>
              <a:t>физическая модель базы данных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80CC4CF-FBCF-4B07-9929-C2964D1D7E18}"/>
              </a:ext>
            </a:extLst>
          </p:cNvPr>
          <p:cNvSpPr txBox="1">
            <a:spLocks/>
          </p:cNvSpPr>
          <p:nvPr/>
        </p:nvSpPr>
        <p:spPr>
          <a:xfrm>
            <a:off x="156411" y="1381787"/>
            <a:ext cx="11881184" cy="5383810"/>
          </a:xfrm>
          <a:prstGeom prst="rect">
            <a:avLst/>
          </a:prstGeom>
          <a:solidFill>
            <a:srgbClr val="FFFFFF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ru-RU" sz="2000" spc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0B8372-74A0-4BC2-8213-A7251DDCBD2A}"/>
              </a:ext>
            </a:extLst>
          </p:cNvPr>
          <p:cNvSpPr txBox="1"/>
          <p:nvPr/>
        </p:nvSpPr>
        <p:spPr>
          <a:xfrm>
            <a:off x="1123406" y="5341552"/>
            <a:ext cx="99451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Представлена физическая модель базы данных, включающая таблицы пользователей и бронирований с указанием атрибутов и типов данных.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0D2C414-BE23-4C33-BAA2-8ADBE1EAB8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407" y="1509590"/>
            <a:ext cx="4506252" cy="3169738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932AA27-C876-432F-A0CA-D7A900F677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2342" y="1509590"/>
            <a:ext cx="4506252" cy="316973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B153221-E659-4ED6-B7FD-ACA2EBA9E463}"/>
              </a:ext>
            </a:extLst>
          </p:cNvPr>
          <p:cNvSpPr txBox="1"/>
          <p:nvPr/>
        </p:nvSpPr>
        <p:spPr>
          <a:xfrm>
            <a:off x="2557925" y="4606519"/>
            <a:ext cx="16372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Таблица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User</a:t>
            </a:r>
            <a:endParaRPr lang="ru-RU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8E8C1C-9B32-4412-8753-F2B32C6217BF}"/>
              </a:ext>
            </a:extLst>
          </p:cNvPr>
          <p:cNvSpPr txBox="1"/>
          <p:nvPr/>
        </p:nvSpPr>
        <p:spPr>
          <a:xfrm>
            <a:off x="7996862" y="4606519"/>
            <a:ext cx="16372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Таблица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Booking</a:t>
            </a:r>
            <a:endParaRPr lang="ru-RU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06079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14:prism dir="d" isContent="1"/>
      </p:transition>
    </mc:Choice>
    <mc:Fallback xmlns="">
      <p:transition spd="slow" advClick="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C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A91570-A256-4D1F-A84A-03396E6AB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411" y="92403"/>
            <a:ext cx="11881184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pc="0" dirty="0">
                <a:latin typeface="Arial" panose="020B0604020202020204" pitchFamily="34" charset="0"/>
                <a:cs typeface="Arial" panose="020B0604020202020204" pitchFamily="34" charset="0"/>
              </a:rPr>
              <a:t>Реализация бизнес-логики в базе данных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80CC4CF-FBCF-4B07-9929-C2964D1D7E18}"/>
              </a:ext>
            </a:extLst>
          </p:cNvPr>
          <p:cNvSpPr txBox="1">
            <a:spLocks/>
          </p:cNvSpPr>
          <p:nvPr/>
        </p:nvSpPr>
        <p:spPr>
          <a:xfrm>
            <a:off x="156411" y="1381787"/>
            <a:ext cx="11881184" cy="5383810"/>
          </a:xfrm>
          <a:prstGeom prst="rect">
            <a:avLst/>
          </a:prstGeom>
          <a:solidFill>
            <a:srgbClr val="FFFFFF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ru-RU" sz="2000" spc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6CDDCF-3A47-444E-A409-54FFFAB529D7}"/>
              </a:ext>
            </a:extLst>
          </p:cNvPr>
          <p:cNvSpPr txBox="1"/>
          <p:nvPr/>
        </p:nvSpPr>
        <p:spPr>
          <a:xfrm>
            <a:off x="1968137" y="1489473"/>
            <a:ext cx="82557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Реализованы ключевые SQL-запросы для работы с системой аренды жилья:</a:t>
            </a:r>
          </a:p>
        </p:txBody>
      </p:sp>
      <p:graphicFrame>
        <p:nvGraphicFramePr>
          <p:cNvPr id="6" name="Таблица 6">
            <a:extLst>
              <a:ext uri="{FF2B5EF4-FFF2-40B4-BE49-F238E27FC236}">
                <a16:creationId xmlns:a16="http://schemas.microsoft.com/office/drawing/2014/main" id="{628177AB-FA57-4C45-A14F-C9B3263C7E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130807"/>
              </p:ext>
            </p:extLst>
          </p:nvPr>
        </p:nvGraphicFramePr>
        <p:xfrm>
          <a:off x="310434" y="2445711"/>
          <a:ext cx="3636554" cy="1051739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3636554">
                  <a:extLst>
                    <a:ext uri="{9D8B030D-6E8A-4147-A177-3AD203B41FA5}">
                      <a16:colId xmlns:a16="http://schemas.microsoft.com/office/drawing/2014/main" val="4065547788"/>
                    </a:ext>
                  </a:extLst>
                </a:gridCol>
              </a:tblGrid>
              <a:tr h="1051739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onsolas" panose="020B0609020204030204" pitchFamily="49" charset="0"/>
                        </a:rPr>
                        <a:t>SELECT * FROM Property</a:t>
                      </a:r>
                    </a:p>
                    <a:p>
                      <a:r>
                        <a:rPr lang="en-US" sz="2000" dirty="0">
                          <a:latin typeface="Consolas" panose="020B0609020204030204" pitchFamily="49" charset="0"/>
                        </a:rPr>
                        <a:t>WHERE available = 1 AND</a:t>
                      </a:r>
                      <a:endParaRPr lang="ru-RU" sz="2000" dirty="0"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2000" dirty="0">
                          <a:latin typeface="Consolas" panose="020B0609020204030204" pitchFamily="49" charset="0"/>
                        </a:rPr>
                        <a:t>price &lt; 50000;</a:t>
                      </a:r>
                      <a:endParaRPr lang="ru-RU" sz="20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777460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350C444-DB42-4C7F-9B40-0937252C40DA}"/>
              </a:ext>
            </a:extLst>
          </p:cNvPr>
          <p:cNvSpPr txBox="1"/>
          <p:nvPr/>
        </p:nvSpPr>
        <p:spPr>
          <a:xfrm>
            <a:off x="154405" y="3429000"/>
            <a:ext cx="37925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Поиск доступных объектов по цене</a:t>
            </a:r>
          </a:p>
        </p:txBody>
      </p:sp>
      <p:graphicFrame>
        <p:nvGraphicFramePr>
          <p:cNvPr id="8" name="Таблица 6">
            <a:extLst>
              <a:ext uri="{FF2B5EF4-FFF2-40B4-BE49-F238E27FC236}">
                <a16:creationId xmlns:a16="http://schemas.microsoft.com/office/drawing/2014/main" id="{A0D63DA7-5215-42CB-9C42-BDA3496DAC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5895886"/>
              </p:ext>
            </p:extLst>
          </p:nvPr>
        </p:nvGraphicFramePr>
        <p:xfrm>
          <a:off x="4533177" y="2451983"/>
          <a:ext cx="7295265" cy="1342078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7295265">
                  <a:extLst>
                    <a:ext uri="{9D8B030D-6E8A-4147-A177-3AD203B41FA5}">
                      <a16:colId xmlns:a16="http://schemas.microsoft.com/office/drawing/2014/main" val="4065547788"/>
                    </a:ext>
                  </a:extLst>
                </a:gridCol>
              </a:tblGrid>
              <a:tr h="1342078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onsolas" panose="020B0609020204030204" pitchFamily="49" charset="0"/>
                        </a:rPr>
                        <a:t>SELECT Booking.*, </a:t>
                      </a:r>
                      <a:r>
                        <a:rPr lang="en-US" sz="2000" dirty="0" err="1">
                          <a:latin typeface="Consolas" panose="020B0609020204030204" pitchFamily="49" charset="0"/>
                        </a:rPr>
                        <a:t>Property.title</a:t>
                      </a:r>
                      <a:endParaRPr lang="en-US" sz="2000" dirty="0"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2000" dirty="0">
                          <a:latin typeface="Consolas" panose="020B0609020204030204" pitchFamily="49" charset="0"/>
                        </a:rPr>
                        <a:t>FROM Booking</a:t>
                      </a:r>
                    </a:p>
                    <a:p>
                      <a:r>
                        <a:rPr lang="en-US" sz="2000" dirty="0">
                          <a:latin typeface="Consolas" panose="020B0609020204030204" pitchFamily="49" charset="0"/>
                        </a:rPr>
                        <a:t>JOIN Property ON </a:t>
                      </a:r>
                      <a:r>
                        <a:rPr lang="en-US" sz="2000" dirty="0" err="1">
                          <a:latin typeface="Consolas" panose="020B0609020204030204" pitchFamily="49" charset="0"/>
                        </a:rPr>
                        <a:t>Booking.property_id</a:t>
                      </a:r>
                      <a:r>
                        <a:rPr lang="en-US" sz="2000" dirty="0">
                          <a:latin typeface="Consolas" panose="020B0609020204030204" pitchFamily="49" charset="0"/>
                        </a:rPr>
                        <a:t> = Property.id</a:t>
                      </a:r>
                    </a:p>
                    <a:p>
                      <a:r>
                        <a:rPr lang="en-US" sz="2000" dirty="0">
                          <a:latin typeface="Consolas" panose="020B0609020204030204" pitchFamily="49" charset="0"/>
                        </a:rPr>
                        <a:t>WHERE </a:t>
                      </a:r>
                      <a:r>
                        <a:rPr lang="en-US" sz="2000" dirty="0" err="1">
                          <a:latin typeface="Consolas" panose="020B0609020204030204" pitchFamily="49" charset="0"/>
                        </a:rPr>
                        <a:t>tenant_id</a:t>
                      </a:r>
                      <a:r>
                        <a:rPr lang="en-US" sz="2000" dirty="0">
                          <a:latin typeface="Consolas" panose="020B0609020204030204" pitchFamily="49" charset="0"/>
                        </a:rPr>
                        <a:t> = 1;</a:t>
                      </a:r>
                      <a:endParaRPr lang="ru-RU" sz="20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777460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FD60E5F-FD35-4449-B869-5F004628F5D4}"/>
              </a:ext>
            </a:extLst>
          </p:cNvPr>
          <p:cNvSpPr txBox="1"/>
          <p:nvPr/>
        </p:nvSpPr>
        <p:spPr>
          <a:xfrm>
            <a:off x="6284517" y="3725337"/>
            <a:ext cx="37925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Получение бронирований пользователя</a:t>
            </a:r>
          </a:p>
        </p:txBody>
      </p:sp>
      <p:graphicFrame>
        <p:nvGraphicFramePr>
          <p:cNvPr id="10" name="Таблица 6">
            <a:extLst>
              <a:ext uri="{FF2B5EF4-FFF2-40B4-BE49-F238E27FC236}">
                <a16:creationId xmlns:a16="http://schemas.microsoft.com/office/drawing/2014/main" id="{63B6409B-1896-412D-91E4-E859BF803A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8458365"/>
              </p:ext>
            </p:extLst>
          </p:nvPr>
        </p:nvGraphicFramePr>
        <p:xfrm>
          <a:off x="1307737" y="4413686"/>
          <a:ext cx="9576527" cy="850604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9576527">
                  <a:extLst>
                    <a:ext uri="{9D8B030D-6E8A-4147-A177-3AD203B41FA5}">
                      <a16:colId xmlns:a16="http://schemas.microsoft.com/office/drawing/2014/main" val="4065547788"/>
                    </a:ext>
                  </a:extLst>
                </a:gridCol>
              </a:tblGrid>
              <a:tr h="850604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onsolas" panose="020B0609020204030204" pitchFamily="49" charset="0"/>
                        </a:rPr>
                        <a:t>INSERT INTO Booking (</a:t>
                      </a:r>
                      <a:r>
                        <a:rPr lang="en-US" sz="2000" dirty="0" err="1">
                          <a:latin typeface="Consolas" panose="020B0609020204030204" pitchFamily="49" charset="0"/>
                        </a:rPr>
                        <a:t>property_id</a:t>
                      </a:r>
                      <a:r>
                        <a:rPr lang="en-US" sz="2000" dirty="0"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sz="2000" dirty="0" err="1">
                          <a:latin typeface="Consolas" panose="020B0609020204030204" pitchFamily="49" charset="0"/>
                        </a:rPr>
                        <a:t>tenant_id</a:t>
                      </a:r>
                      <a:r>
                        <a:rPr lang="en-US" sz="2000" dirty="0"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sz="2000" dirty="0" err="1">
                          <a:latin typeface="Consolas" panose="020B0609020204030204" pitchFamily="49" charset="0"/>
                        </a:rPr>
                        <a:t>check_in</a:t>
                      </a:r>
                      <a:r>
                        <a:rPr lang="en-US" sz="2000" dirty="0"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sz="2000" dirty="0" err="1">
                          <a:latin typeface="Consolas" panose="020B0609020204030204" pitchFamily="49" charset="0"/>
                        </a:rPr>
                        <a:t>check_out</a:t>
                      </a:r>
                      <a:r>
                        <a:rPr lang="en-US" sz="2000" dirty="0">
                          <a:latin typeface="Consolas" panose="020B0609020204030204" pitchFamily="49" charset="0"/>
                        </a:rPr>
                        <a:t>)</a:t>
                      </a:r>
                    </a:p>
                    <a:p>
                      <a:r>
                        <a:rPr lang="en-US" sz="2000" dirty="0">
                          <a:latin typeface="Consolas" panose="020B0609020204030204" pitchFamily="49" charset="0"/>
                        </a:rPr>
                        <a:t>VALUES (1, 2, '2026-05-01', '2026-05-10');</a:t>
                      </a:r>
                      <a:endParaRPr lang="ru-RU" sz="20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777460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22AE9445-E4D3-4EDF-8516-43AB41AFE295}"/>
              </a:ext>
            </a:extLst>
          </p:cNvPr>
          <p:cNvSpPr txBox="1"/>
          <p:nvPr/>
        </p:nvSpPr>
        <p:spPr>
          <a:xfrm>
            <a:off x="4199708" y="5199214"/>
            <a:ext cx="37925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Создание нового бронирования</a:t>
            </a:r>
          </a:p>
        </p:txBody>
      </p:sp>
    </p:spTree>
    <p:extLst>
      <p:ext uri="{BB962C8B-B14F-4D97-AF65-F5344CB8AC3E}">
        <p14:creationId xmlns:p14="http://schemas.microsoft.com/office/powerpoint/2010/main" val="1615474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prism isContent="1"/>
      </p:transition>
    </mc:Choice>
    <mc:Fallback xmlns="">
      <p:transition spd="slow" advClick="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C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A91570-A256-4D1F-A84A-03396E6AB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411" y="92403"/>
            <a:ext cx="11881184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pc="0" dirty="0">
                <a:latin typeface="Arial" panose="020B0604020202020204" pitchFamily="34" charset="0"/>
                <a:cs typeface="Arial" panose="020B0604020202020204" pitchFamily="34" charset="0"/>
              </a:rPr>
              <a:t>Архитектура веб-приложения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80CC4CF-FBCF-4B07-9929-C2964D1D7E18}"/>
              </a:ext>
            </a:extLst>
          </p:cNvPr>
          <p:cNvSpPr txBox="1">
            <a:spLocks/>
          </p:cNvSpPr>
          <p:nvPr/>
        </p:nvSpPr>
        <p:spPr>
          <a:xfrm>
            <a:off x="156411" y="1381787"/>
            <a:ext cx="11881184" cy="5383810"/>
          </a:xfrm>
          <a:prstGeom prst="rect">
            <a:avLst/>
          </a:prstGeom>
          <a:solidFill>
            <a:srgbClr val="FFFFFF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ru-RU" sz="2000" spc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751E0C-9449-416C-901A-F2E067B288A1}"/>
              </a:ext>
            </a:extLst>
          </p:cNvPr>
          <p:cNvSpPr txBox="1"/>
          <p:nvPr/>
        </p:nvSpPr>
        <p:spPr>
          <a:xfrm>
            <a:off x="204544" y="2106505"/>
            <a:ext cx="2745205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600" b="1" dirty="0">
                <a:latin typeface="Arial" panose="020B0604020202020204" pitchFamily="34" charset="0"/>
                <a:cs typeface="Arial" panose="020B0604020202020204" pitchFamily="34" charset="0"/>
              </a:rPr>
              <a:t>Клиент</a:t>
            </a:r>
            <a:endParaRPr lang="en-US" sz="2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(HTML</a:t>
            </a:r>
            <a:r>
              <a:rPr lang="ru-RU" sz="2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CSS</a:t>
            </a:r>
            <a:r>
              <a:rPr lang="ru-RU" sz="2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JS)</a:t>
            </a:r>
            <a:endParaRPr lang="ru-RU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961122-ADBF-4B9B-9282-E8FB3F28D7B6}"/>
              </a:ext>
            </a:extLst>
          </p:cNvPr>
          <p:cNvSpPr txBox="1"/>
          <p:nvPr/>
        </p:nvSpPr>
        <p:spPr>
          <a:xfrm>
            <a:off x="5015163" y="2106505"/>
            <a:ext cx="2161674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600" b="1" dirty="0">
                <a:latin typeface="Arial" panose="020B0604020202020204" pitchFamily="34" charset="0"/>
                <a:cs typeface="Arial" panose="020B0604020202020204" pitchFamily="34" charset="0"/>
              </a:rPr>
              <a:t>Сервер</a:t>
            </a:r>
            <a:endParaRPr lang="en-US" sz="2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ru-RU" sz="26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Node.js)</a:t>
            </a:r>
            <a:endParaRPr lang="ru-RU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4BA87A-8E0E-49EC-BFEA-10AA9396D892}"/>
              </a:ext>
            </a:extLst>
          </p:cNvPr>
          <p:cNvSpPr txBox="1"/>
          <p:nvPr/>
        </p:nvSpPr>
        <p:spPr>
          <a:xfrm>
            <a:off x="9667374" y="2106505"/>
            <a:ext cx="231406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600" b="1" dirty="0">
                <a:latin typeface="Arial" panose="020B0604020202020204" pitchFamily="34" charset="0"/>
                <a:cs typeface="Arial" panose="020B0604020202020204" pitchFamily="34" charset="0"/>
              </a:rPr>
              <a:t>База данных</a:t>
            </a:r>
            <a:endParaRPr lang="en-US" sz="2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ru-RU" sz="26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SQLite)</a:t>
            </a:r>
            <a:endParaRPr lang="ru-RU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B1AA80D2-C06F-437E-A3EA-7CF2FB503825}"/>
              </a:ext>
            </a:extLst>
          </p:cNvPr>
          <p:cNvCxnSpPr/>
          <p:nvPr/>
        </p:nvCxnSpPr>
        <p:spPr>
          <a:xfrm>
            <a:off x="2949749" y="2552781"/>
            <a:ext cx="23682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C5F29C35-BAD5-41F2-8E9C-9B128086498B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7176837" y="2552781"/>
            <a:ext cx="249053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83104A9C-17A4-4320-B2CB-984E894D6802}"/>
              </a:ext>
            </a:extLst>
          </p:cNvPr>
          <p:cNvSpPr txBox="1"/>
          <p:nvPr/>
        </p:nvSpPr>
        <p:spPr>
          <a:xfrm>
            <a:off x="204544" y="3723774"/>
            <a:ext cx="117768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Архитектура веб-приложения построена по клиент-серверной модели, где пользователь взаимодействует с интерфейсом, сервер обрабатывает запросы, а база данных обеспечивает хранение информации.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0ED471C-24A4-43CA-AC58-46627C13A42A}"/>
              </a:ext>
            </a:extLst>
          </p:cNvPr>
          <p:cNvSpPr txBox="1"/>
          <p:nvPr/>
        </p:nvSpPr>
        <p:spPr>
          <a:xfrm>
            <a:off x="3581410" y="2313615"/>
            <a:ext cx="13274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HTTP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 запрос</a:t>
            </a:r>
            <a:r>
              <a:rPr lang="ru-RU" sz="1200" dirty="0"/>
              <a:t>		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5C86EBE-1669-42F2-B36F-B801A630CF42}"/>
              </a:ext>
            </a:extLst>
          </p:cNvPr>
          <p:cNvSpPr txBox="1"/>
          <p:nvPr/>
        </p:nvSpPr>
        <p:spPr>
          <a:xfrm>
            <a:off x="7945857" y="2317167"/>
            <a:ext cx="11680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SQL –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 запрос</a:t>
            </a:r>
          </a:p>
        </p:txBody>
      </p:sp>
    </p:spTree>
    <p:extLst>
      <p:ext uri="{BB962C8B-B14F-4D97-AF65-F5344CB8AC3E}">
        <p14:creationId xmlns:p14="http://schemas.microsoft.com/office/powerpoint/2010/main" val="688828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prism dir="u" isContent="1"/>
      </p:transition>
    </mc:Choice>
    <mc:Fallback xmlns="">
      <p:transition spd="slow" advClick="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C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A91570-A256-4D1F-A84A-03396E6AB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411" y="92403"/>
            <a:ext cx="11881184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pc="0" dirty="0">
                <a:latin typeface="Arial" panose="020B0604020202020204" pitchFamily="34" charset="0"/>
                <a:cs typeface="Arial" panose="020B0604020202020204" pitchFamily="34" charset="0"/>
              </a:rPr>
              <a:t>Реализация бэкенд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80CC4CF-FBCF-4B07-9929-C2964D1D7E18}"/>
              </a:ext>
            </a:extLst>
          </p:cNvPr>
          <p:cNvSpPr txBox="1">
            <a:spLocks/>
          </p:cNvSpPr>
          <p:nvPr/>
        </p:nvSpPr>
        <p:spPr>
          <a:xfrm>
            <a:off x="155408" y="1381787"/>
            <a:ext cx="11881184" cy="5383810"/>
          </a:xfrm>
          <a:prstGeom prst="rect">
            <a:avLst/>
          </a:prstGeom>
          <a:solidFill>
            <a:srgbClr val="FFFFFF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ru-RU" sz="2000" spc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Таблица 7">
            <a:extLst>
              <a:ext uri="{FF2B5EF4-FFF2-40B4-BE49-F238E27FC236}">
                <a16:creationId xmlns:a16="http://schemas.microsoft.com/office/drawing/2014/main" id="{A74708CC-E911-4633-8020-6C40064E4E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9854002"/>
              </p:ext>
            </p:extLst>
          </p:nvPr>
        </p:nvGraphicFramePr>
        <p:xfrm>
          <a:off x="3668295" y="3970400"/>
          <a:ext cx="4855409" cy="1798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55409">
                  <a:extLst>
                    <a:ext uri="{9D8B030D-6E8A-4147-A177-3AD203B41FA5}">
                      <a16:colId xmlns:a16="http://schemas.microsoft.com/office/drawing/2014/main" val="103414174"/>
                    </a:ext>
                  </a:extLst>
                </a:gridCol>
              </a:tblGrid>
              <a:tr h="323718">
                <a:tc>
                  <a:txBody>
                    <a:bodyPr/>
                    <a:lstStyle/>
                    <a:p>
                      <a:r>
                        <a:rPr lang="ru-RU" sz="2200" b="1" kern="1200" cap="none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Код:</a:t>
                      </a:r>
                      <a:endParaRPr lang="en-US" sz="2200" b="1" kern="1200" cap="none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app.post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('/login', (req, res) =&gt; {</a:t>
                      </a:r>
                      <a:br>
                        <a:rPr lang="en-US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</a:br>
                      <a:r>
                        <a:rPr lang="en-US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const { email, password } =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req.body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;</a:t>
                      </a:r>
                      <a:br>
                        <a:rPr lang="en-US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</a:br>
                      <a:r>
                        <a:rPr lang="en-US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// </a:t>
                      </a:r>
                      <a:r>
                        <a:rPr lang="ru-RU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проверка пользователя</a:t>
                      </a:r>
                      <a:br>
                        <a:rPr lang="ru-RU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</a:br>
                      <a:r>
                        <a:rPr lang="ru-RU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});</a:t>
                      </a:r>
                    </a:p>
                    <a:p>
                      <a:endParaRPr lang="ru-RU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6693982"/>
                  </a:ext>
                </a:extLst>
              </a:tr>
            </a:tbl>
          </a:graphicData>
        </a:graphic>
      </p:graphicFrame>
      <p:graphicFrame>
        <p:nvGraphicFramePr>
          <p:cNvPr id="8" name="Таблица 8">
            <a:extLst>
              <a:ext uri="{FF2B5EF4-FFF2-40B4-BE49-F238E27FC236}">
                <a16:creationId xmlns:a16="http://schemas.microsoft.com/office/drawing/2014/main" id="{6C63AE54-CE58-4170-A8E7-8CA6642E0D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2066037"/>
              </p:ext>
            </p:extLst>
          </p:nvPr>
        </p:nvGraphicFramePr>
        <p:xfrm>
          <a:off x="7035791" y="1522776"/>
          <a:ext cx="4855409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55409">
                  <a:extLst>
                    <a:ext uri="{9D8B030D-6E8A-4147-A177-3AD203B41FA5}">
                      <a16:colId xmlns:a16="http://schemas.microsoft.com/office/drawing/2014/main" val="2894222891"/>
                    </a:ext>
                  </a:extLst>
                </a:gridCol>
              </a:tblGrid>
              <a:tr h="15047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kern="1200" cap="none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Основные</a:t>
                      </a:r>
                      <a:r>
                        <a:rPr lang="en-US" sz="2200" b="1" kern="1200" cap="none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200" b="1" kern="1200" cap="none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эндпоинты</a:t>
                      </a:r>
                      <a:r>
                        <a:rPr lang="en-US" sz="2200" b="1" kern="1200" cap="none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:</a:t>
                      </a:r>
                      <a:br>
                        <a:rPr lang="en-US" sz="2600" b="0" cap="none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2000" b="0" kern="1200" cap="none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- GET /properties</a:t>
                      </a:r>
                      <a:br>
                        <a:rPr lang="en-US" sz="2000" b="0" kern="1200" cap="none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sz="2000" b="0" kern="1200" cap="none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- POST /booking</a:t>
                      </a:r>
                      <a:br>
                        <a:rPr lang="en-US" sz="2000" b="0" kern="1200" cap="none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sz="2000" b="0" kern="1200" cap="none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- GET /booking</a:t>
                      </a:r>
                      <a:br>
                        <a:rPr lang="en-US" sz="2000" b="0" kern="1200" cap="none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sz="2000" b="0" kern="1200" cap="none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- POST /login</a:t>
                      </a:r>
                      <a:endParaRPr lang="ru-RU" sz="2000" b="0" kern="1200" cap="none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6436265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86597127-9130-41C2-A7C5-BF7F5522C5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0804620"/>
              </p:ext>
            </p:extLst>
          </p:nvPr>
        </p:nvGraphicFramePr>
        <p:xfrm>
          <a:off x="300800" y="1522777"/>
          <a:ext cx="6226332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26332">
                  <a:extLst>
                    <a:ext uri="{9D8B030D-6E8A-4147-A177-3AD203B41FA5}">
                      <a16:colId xmlns:a16="http://schemas.microsoft.com/office/drawing/2014/main" val="2894222891"/>
                    </a:ext>
                  </a:extLst>
                </a:gridCol>
              </a:tblGrid>
              <a:tr h="1677624">
                <a:tc>
                  <a:txBody>
                    <a:bodyPr/>
                    <a:lstStyle/>
                    <a:p>
                      <a:pPr algn="l"/>
                      <a:r>
                        <a:rPr lang="ru-RU" sz="2200" b="1" kern="1200" cap="none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Регистрация и вход</a:t>
                      </a:r>
                      <a:r>
                        <a:rPr lang="en-US" sz="2200" b="1" kern="1200" cap="none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2200" b="1" kern="1200" cap="none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пользователя:</a:t>
                      </a:r>
                      <a:br>
                        <a:rPr lang="ru-RU" sz="2200" b="0" kern="1200" cap="none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ru-RU" sz="2000" b="0" kern="1200" cap="none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- POST /</a:t>
                      </a:r>
                      <a:r>
                        <a:rPr lang="ru-RU" sz="2000" b="0" kern="1200" cap="none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register</a:t>
                      </a:r>
                      <a:br>
                        <a:rPr lang="ru-RU" sz="2000" b="0" kern="1200" cap="none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ru-RU" sz="2000" b="0" kern="1200" cap="none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- POST /</a:t>
                      </a:r>
                      <a:r>
                        <a:rPr lang="ru-RU" sz="2000" b="0" kern="1200" cap="none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login</a:t>
                      </a:r>
                      <a:br>
                        <a:rPr lang="ru-RU" sz="2000" b="0" kern="1200" cap="none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ru-RU" sz="2000" b="0" kern="1200" cap="none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- Проверка данных</a:t>
                      </a:r>
                      <a:br>
                        <a:rPr lang="ru-RU" sz="2000" b="0" kern="1200" cap="none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ru-RU" sz="2000" b="0" kern="1200" cap="none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- Создание сессии / токена</a:t>
                      </a:r>
                    </a:p>
                    <a:p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643626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24D0862-FC16-4110-879F-68A5B468673F}"/>
              </a:ext>
            </a:extLst>
          </p:cNvPr>
          <p:cNvSpPr txBox="1"/>
          <p:nvPr/>
        </p:nvSpPr>
        <p:spPr>
          <a:xfrm>
            <a:off x="565490" y="6045868"/>
            <a:ext cx="1106102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5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Клиент → HTTP-запрос → Сервер → SQL-запрос → База данных → Ответ пользователю</a:t>
            </a:r>
          </a:p>
        </p:txBody>
      </p:sp>
    </p:spTree>
    <p:extLst>
      <p:ext uri="{BB962C8B-B14F-4D97-AF65-F5344CB8AC3E}">
        <p14:creationId xmlns:p14="http://schemas.microsoft.com/office/powerpoint/2010/main" val="1022732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14:prism dir="r" isContent="1"/>
      </p:transition>
    </mc:Choice>
    <mc:Fallback xmlns="">
      <p:transition spd="slow" advClick="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C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A91570-A256-4D1F-A84A-03396E6AB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411" y="92403"/>
            <a:ext cx="11881184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pc="0" dirty="0">
                <a:latin typeface="Arial" panose="020B0604020202020204" pitchFamily="34" charset="0"/>
                <a:cs typeface="Arial" panose="020B0604020202020204" pitchFamily="34" charset="0"/>
              </a:rPr>
              <a:t>Интерфейс веб-приложения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80CC4CF-FBCF-4B07-9929-C2964D1D7E18}"/>
              </a:ext>
            </a:extLst>
          </p:cNvPr>
          <p:cNvSpPr txBox="1">
            <a:spLocks/>
          </p:cNvSpPr>
          <p:nvPr/>
        </p:nvSpPr>
        <p:spPr>
          <a:xfrm>
            <a:off x="156411" y="1381787"/>
            <a:ext cx="11881184" cy="5383810"/>
          </a:xfrm>
          <a:prstGeom prst="rect">
            <a:avLst/>
          </a:prstGeom>
          <a:solidFill>
            <a:srgbClr val="FFFFFF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2000" spc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259D6BE-3206-42C1-9594-D9516362A8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303" y="1586323"/>
            <a:ext cx="3450712" cy="215547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3D4E7C8-13D3-4AA4-A018-4D1430F10D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304" y="4175960"/>
            <a:ext cx="3450712" cy="2155479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3B91248-2CA1-4702-9306-CFB134E35E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3985" y="4181599"/>
            <a:ext cx="3450712" cy="214984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B10E9A36-2884-4043-8D57-7EAAC62D69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3986" y="1591962"/>
            <a:ext cx="3450712" cy="214984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59F28CE-2EA7-4249-B28C-418215F8C676}"/>
              </a:ext>
            </a:extLst>
          </p:cNvPr>
          <p:cNvSpPr txBox="1"/>
          <p:nvPr/>
        </p:nvSpPr>
        <p:spPr>
          <a:xfrm>
            <a:off x="1851030" y="3651103"/>
            <a:ext cx="20032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Главная страница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14E0EB-E582-4DF6-B45D-761ACBCD48F1}"/>
              </a:ext>
            </a:extLst>
          </p:cNvPr>
          <p:cNvSpPr txBox="1"/>
          <p:nvPr/>
        </p:nvSpPr>
        <p:spPr>
          <a:xfrm>
            <a:off x="1851030" y="6278214"/>
            <a:ext cx="20032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Окно подачи заявки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8D638-4006-43F0-93CA-94225EBDE257}"/>
              </a:ext>
            </a:extLst>
          </p:cNvPr>
          <p:cNvSpPr txBox="1"/>
          <p:nvPr/>
        </p:nvSpPr>
        <p:spPr>
          <a:xfrm>
            <a:off x="8391684" y="3688577"/>
            <a:ext cx="20032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Форма регистрации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9010DA-14A0-4185-A0FF-224AFADF25F7}"/>
              </a:ext>
            </a:extLst>
          </p:cNvPr>
          <p:cNvSpPr txBox="1"/>
          <p:nvPr/>
        </p:nvSpPr>
        <p:spPr>
          <a:xfrm>
            <a:off x="8337712" y="6278213"/>
            <a:ext cx="20032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Форма входа</a:t>
            </a:r>
          </a:p>
        </p:txBody>
      </p:sp>
    </p:spTree>
    <p:extLst>
      <p:ext uri="{BB962C8B-B14F-4D97-AF65-F5344CB8AC3E}">
        <p14:creationId xmlns:p14="http://schemas.microsoft.com/office/powerpoint/2010/main" val="5943159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000" advClick="0">
        <p14:prism dir="d" isContent="1"/>
      </p:transition>
    </mc:Choice>
    <mc:Fallback xmlns="">
      <p:transition spd="slow" advClick="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C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A91570-A256-4D1F-A84A-03396E6AB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411" y="92403"/>
            <a:ext cx="11881184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pc="0" dirty="0">
                <a:latin typeface="Arial" panose="020B0604020202020204" pitchFamily="34" charset="0"/>
                <a:cs typeface="Arial" panose="020B0604020202020204" pitchFamily="34" charset="0"/>
              </a:rPr>
              <a:t>Администрирование и защита данных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80CC4CF-FBCF-4B07-9929-C2964D1D7E18}"/>
              </a:ext>
            </a:extLst>
          </p:cNvPr>
          <p:cNvSpPr txBox="1">
            <a:spLocks/>
          </p:cNvSpPr>
          <p:nvPr/>
        </p:nvSpPr>
        <p:spPr>
          <a:xfrm>
            <a:off x="155408" y="1381787"/>
            <a:ext cx="11881184" cy="5383810"/>
          </a:xfrm>
          <a:prstGeom prst="rect">
            <a:avLst/>
          </a:prstGeom>
          <a:solidFill>
            <a:srgbClr val="FFFFFF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ru-RU" sz="2000" spc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C08396A9-7DFF-41C9-B9C2-55FE8488AB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3321788"/>
              </p:ext>
            </p:extLst>
          </p:nvPr>
        </p:nvGraphicFramePr>
        <p:xfrm>
          <a:off x="300800" y="1522777"/>
          <a:ext cx="5558980" cy="22250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58980">
                  <a:extLst>
                    <a:ext uri="{9D8B030D-6E8A-4147-A177-3AD203B41FA5}">
                      <a16:colId xmlns:a16="http://schemas.microsoft.com/office/drawing/2014/main" val="2894222891"/>
                    </a:ext>
                  </a:extLst>
                </a:gridCol>
              </a:tblGrid>
              <a:tr h="2225038">
                <a:tc>
                  <a:txBody>
                    <a:bodyPr/>
                    <a:lstStyle/>
                    <a:p>
                      <a:pPr algn="ctr"/>
                      <a:r>
                        <a:rPr lang="ru-RU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Разграничение прав доступа: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Пользователь 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– </a:t>
                      </a:r>
                      <a:r>
                        <a:rPr lang="ru-RU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просмотр объектов и бронирование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Арендодатель – добавление и управление объектами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Администратор – полный доступ к системе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6436265"/>
                  </a:ext>
                </a:extLst>
              </a:tr>
            </a:tbl>
          </a:graphicData>
        </a:graphic>
      </p:graphicFrame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085717DA-31B6-4EDA-BF6A-9544CB6290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1124217"/>
              </p:ext>
            </p:extLst>
          </p:nvPr>
        </p:nvGraphicFramePr>
        <p:xfrm>
          <a:off x="6332220" y="1522776"/>
          <a:ext cx="5558980" cy="2225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58980">
                  <a:extLst>
                    <a:ext uri="{9D8B030D-6E8A-4147-A177-3AD203B41FA5}">
                      <a16:colId xmlns:a16="http://schemas.microsoft.com/office/drawing/2014/main" val="2894222891"/>
                    </a:ext>
                  </a:extLst>
                </a:gridCol>
              </a:tblGrid>
              <a:tr h="2225039">
                <a:tc>
                  <a:txBody>
                    <a:bodyPr/>
                    <a:lstStyle/>
                    <a:p>
                      <a:pPr algn="ctr"/>
                      <a:r>
                        <a:rPr lang="ru-RU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Резервное копирование: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База данных хранится в формате 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SQLite</a:t>
                      </a:r>
                      <a:endParaRPr lang="ru-RU" sz="20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Выполняется регулярное сохранение копии файла базы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Возможность восстановления данных из резервной копии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6436265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249FDC83-9E4C-4321-94BE-9BABCE210E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8460166"/>
              </p:ext>
            </p:extLst>
          </p:nvPr>
        </p:nvGraphicFramePr>
        <p:xfrm>
          <a:off x="3316510" y="4073692"/>
          <a:ext cx="5558980" cy="16509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58980">
                  <a:extLst>
                    <a:ext uri="{9D8B030D-6E8A-4147-A177-3AD203B41FA5}">
                      <a16:colId xmlns:a16="http://schemas.microsoft.com/office/drawing/2014/main" val="2894222891"/>
                    </a:ext>
                  </a:extLst>
                </a:gridCol>
              </a:tblGrid>
              <a:tr h="1650933">
                <a:tc>
                  <a:txBody>
                    <a:bodyPr/>
                    <a:lstStyle/>
                    <a:p>
                      <a:pPr algn="ctr"/>
                      <a:r>
                        <a:rPr lang="ru-RU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Импорт и экспорт данных: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Используется 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DB Browser for SQLite</a:t>
                      </a:r>
                      <a:endParaRPr lang="ru-RU" sz="20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Возможен экспорт базы данных в файл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Поддерживается восстановление данных (импорт)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64362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98570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prism isContent="1"/>
      </p:transition>
    </mc:Choice>
    <mc:Fallback xmlns="">
      <p:transition spd="slow" advClick="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C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A91570-A256-4D1F-A84A-03396E6AB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411" y="92403"/>
            <a:ext cx="11881184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pc="0" dirty="0">
                <a:latin typeface="Arial" panose="020B0604020202020204" pitchFamily="34" charset="0"/>
                <a:cs typeface="Arial" panose="020B0604020202020204" pitchFamily="34" charset="0"/>
              </a:rPr>
              <a:t>Тестирование и оптимизация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80CC4CF-FBCF-4B07-9929-C2964D1D7E18}"/>
              </a:ext>
            </a:extLst>
          </p:cNvPr>
          <p:cNvSpPr txBox="1">
            <a:spLocks/>
          </p:cNvSpPr>
          <p:nvPr/>
        </p:nvSpPr>
        <p:spPr>
          <a:xfrm>
            <a:off x="156411" y="1381787"/>
            <a:ext cx="11881184" cy="5383810"/>
          </a:xfrm>
          <a:prstGeom prst="rect">
            <a:avLst/>
          </a:prstGeom>
          <a:solidFill>
            <a:srgbClr val="FFFFFF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2000" spc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7738509-CE71-472F-B6A8-E2BE0510DA4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699711" y="1510347"/>
            <a:ext cx="4788566" cy="3153000"/>
          </a:xfrm>
          <a:prstGeom prst="rect">
            <a:avLst/>
          </a:prstGeom>
        </p:spPr>
      </p:pic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D7FA69D3-6B2C-40B8-ABC7-BAB81371C5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9599883"/>
              </p:ext>
            </p:extLst>
          </p:nvPr>
        </p:nvGraphicFramePr>
        <p:xfrm>
          <a:off x="284623" y="1518742"/>
          <a:ext cx="3286876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6876">
                  <a:extLst>
                    <a:ext uri="{9D8B030D-6E8A-4147-A177-3AD203B41FA5}">
                      <a16:colId xmlns:a16="http://schemas.microsoft.com/office/drawing/2014/main" val="2894222891"/>
                    </a:ext>
                  </a:extLst>
                </a:gridCol>
              </a:tblGrid>
              <a:tr h="2411314">
                <a:tc>
                  <a:txBody>
                    <a:bodyPr/>
                    <a:lstStyle/>
                    <a:p>
                      <a:pPr algn="ctr"/>
                      <a:r>
                        <a:rPr lang="ru-RU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Проведено тестирование системы: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Проверка регистрации и входа пользователя 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Проверка добавления и отображения объектов 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Проверка процесса бронирования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6436265"/>
                  </a:ext>
                </a:extLst>
              </a:tr>
            </a:tbl>
          </a:graphicData>
        </a:graphic>
      </p:graphicFrame>
      <p:graphicFrame>
        <p:nvGraphicFramePr>
          <p:cNvPr id="13" name="Таблица 12">
            <a:extLst>
              <a:ext uri="{FF2B5EF4-FFF2-40B4-BE49-F238E27FC236}">
                <a16:creationId xmlns:a16="http://schemas.microsoft.com/office/drawing/2014/main" id="{20E0ED83-F2ED-44C7-9CAE-8FB3748D7A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3611945"/>
              </p:ext>
            </p:extLst>
          </p:nvPr>
        </p:nvGraphicFramePr>
        <p:xfrm>
          <a:off x="8616489" y="1518742"/>
          <a:ext cx="3286876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6876">
                  <a:extLst>
                    <a:ext uri="{9D8B030D-6E8A-4147-A177-3AD203B41FA5}">
                      <a16:colId xmlns:a16="http://schemas.microsoft.com/office/drawing/2014/main" val="2894222891"/>
                    </a:ext>
                  </a:extLst>
                </a:gridCol>
              </a:tblGrid>
              <a:tr h="2834640">
                <a:tc>
                  <a:txBody>
                    <a:bodyPr/>
                    <a:lstStyle/>
                    <a:p>
                      <a:pPr algn="ctr"/>
                      <a:r>
                        <a:rPr lang="ru-RU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Результаты тестирования: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Все основные функции работают корректно 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Ошибки в логике не обнаружены 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Система стабильно обрабатывает запросы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6436265"/>
                  </a:ext>
                </a:extLst>
              </a:tr>
            </a:tbl>
          </a:graphicData>
        </a:graphic>
      </p:graphicFrame>
      <p:graphicFrame>
        <p:nvGraphicFramePr>
          <p:cNvPr id="14" name="Таблица 13">
            <a:extLst>
              <a:ext uri="{FF2B5EF4-FFF2-40B4-BE49-F238E27FC236}">
                <a16:creationId xmlns:a16="http://schemas.microsoft.com/office/drawing/2014/main" id="{A9C52C05-13E5-41C6-B899-18EF86C8C2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3661934"/>
              </p:ext>
            </p:extLst>
          </p:nvPr>
        </p:nvGraphicFramePr>
        <p:xfrm>
          <a:off x="2792829" y="4972556"/>
          <a:ext cx="6602330" cy="13201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02330">
                  <a:extLst>
                    <a:ext uri="{9D8B030D-6E8A-4147-A177-3AD203B41FA5}">
                      <a16:colId xmlns:a16="http://schemas.microsoft.com/office/drawing/2014/main" val="2894222891"/>
                    </a:ext>
                  </a:extLst>
                </a:gridCol>
              </a:tblGrid>
              <a:tr h="1320135">
                <a:tc>
                  <a:txBody>
                    <a:bodyPr/>
                    <a:lstStyle/>
                    <a:p>
                      <a:pPr algn="ctr"/>
                      <a:r>
                        <a:rPr lang="ru-RU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Оптимизация:</a:t>
                      </a:r>
                    </a:p>
                    <a:p>
                      <a:pPr algn="ctr"/>
                      <a:r>
                        <a:rPr lang="ru-RU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Оптимизированы SQL-запросы </a:t>
                      </a:r>
                    </a:p>
                    <a:p>
                      <a:pPr algn="ctr"/>
                      <a:r>
                        <a:rPr lang="ru-RU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Улучшена скорость обработки данных </a:t>
                      </a:r>
                    </a:p>
                    <a:p>
                      <a:pPr algn="ctr"/>
                      <a:r>
                        <a:rPr lang="ru-RU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Упрощена структура взаимодействия с базой данных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64362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36378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prism dir="u" isContent="1"/>
      </p:transition>
    </mc:Choice>
    <mc:Fallback xmlns="">
      <p:transition spd="slow" advClick="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C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A91570-A256-4D1F-A84A-03396E6AB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411" y="92403"/>
            <a:ext cx="11881184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pc="0" dirty="0">
                <a:latin typeface="Arial" panose="020B0604020202020204" pitchFamily="34" charset="0"/>
                <a:cs typeface="Arial" panose="020B0604020202020204" pitchFamily="34" charset="0"/>
              </a:rPr>
              <a:t>Результаты работы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80CC4CF-FBCF-4B07-9929-C2964D1D7E18}"/>
              </a:ext>
            </a:extLst>
          </p:cNvPr>
          <p:cNvSpPr txBox="1">
            <a:spLocks/>
          </p:cNvSpPr>
          <p:nvPr/>
        </p:nvSpPr>
        <p:spPr>
          <a:xfrm>
            <a:off x="156411" y="1381787"/>
            <a:ext cx="11881184" cy="5383810"/>
          </a:xfrm>
          <a:prstGeom prst="rect">
            <a:avLst/>
          </a:prstGeom>
          <a:solidFill>
            <a:srgbClr val="FFFFFF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2000" spc="0" dirty="0">
                <a:latin typeface="Arial" panose="020B0604020202020204" pitchFamily="34" charset="0"/>
                <a:cs typeface="Arial" panose="020B0604020202020204" pitchFamily="34" charset="0"/>
              </a:rPr>
              <a:t>Достигнутые результаты: спроектирована и нормализована база данных в </a:t>
            </a:r>
            <a:r>
              <a:rPr lang="en-US" sz="2000" spc="0" dirty="0" err="1">
                <a:latin typeface="Arial" panose="020B0604020202020204" pitchFamily="34" charset="0"/>
                <a:cs typeface="Arial" panose="020B0604020202020204" pitchFamily="34" charset="0"/>
              </a:rPr>
              <a:t>sqlite</a:t>
            </a:r>
            <a:r>
              <a:rPr lang="ru-RU" sz="2000" spc="0" dirty="0">
                <a:latin typeface="Arial" panose="020B0604020202020204" pitchFamily="34" charset="0"/>
                <a:cs typeface="Arial" panose="020B0604020202020204" pitchFamily="34" charset="0"/>
              </a:rPr>
              <a:t>, создан макет веб-приложения в </a:t>
            </a:r>
            <a:r>
              <a:rPr lang="ru-RU" sz="2000" spc="0" dirty="0" err="1">
                <a:latin typeface="Arial" panose="020B0604020202020204" pitchFamily="34" charset="0"/>
                <a:cs typeface="Arial" panose="020B0604020202020204" pitchFamily="34" charset="0"/>
              </a:rPr>
              <a:t>фигме</a:t>
            </a:r>
            <a:r>
              <a:rPr lang="ru-RU" sz="2000" spc="0" dirty="0">
                <a:latin typeface="Arial" panose="020B0604020202020204" pitchFamily="34" charset="0"/>
                <a:cs typeface="Arial" panose="020B0604020202020204" pitchFamily="34" charset="0"/>
              </a:rPr>
              <a:t>, разработано веб-приложение на </a:t>
            </a:r>
            <a:r>
              <a:rPr lang="en-US" sz="2000" spc="0" dirty="0">
                <a:latin typeface="Arial" panose="020B0604020202020204" pitchFamily="34" charset="0"/>
                <a:cs typeface="Arial" panose="020B0604020202020204" pitchFamily="34" charset="0"/>
              </a:rPr>
              <a:t>node.js </a:t>
            </a:r>
            <a:r>
              <a:rPr lang="ru-RU" sz="2000" spc="0" dirty="0">
                <a:latin typeface="Arial" panose="020B0604020202020204" pitchFamily="34" charset="0"/>
                <a:cs typeface="Arial" panose="020B0604020202020204" pitchFamily="34" charset="0"/>
              </a:rPr>
              <a:t>с системой аутентификации, проведено тестирование</a:t>
            </a:r>
          </a:p>
          <a:p>
            <a:pPr>
              <a:lnSpc>
                <a:spcPct val="100000"/>
              </a:lnSpc>
            </a:pPr>
            <a:endParaRPr lang="ru-RU" sz="2000" spc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ru-RU" sz="2000" spc="0" dirty="0">
                <a:latin typeface="Arial" panose="020B0604020202020204" pitchFamily="34" charset="0"/>
                <a:cs typeface="Arial" panose="020B0604020202020204" pitchFamily="34" charset="0"/>
              </a:rPr>
              <a:t>Система может применяться в сервисах аренды жилья; в перспективе — расширение функционала, внедрение онлайн-оплаты и разработка мобильного приложения.</a:t>
            </a:r>
          </a:p>
        </p:txBody>
      </p:sp>
    </p:spTree>
    <p:extLst>
      <p:ext uri="{BB962C8B-B14F-4D97-AF65-F5344CB8AC3E}">
        <p14:creationId xmlns:p14="http://schemas.microsoft.com/office/powerpoint/2010/main" val="33795360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14:prism dir="r" isContent="1"/>
      </p:transition>
    </mc:Choice>
    <mc:Fallback xmlns="">
      <p:transition spd="slow" advClick="0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C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C8799B-6D1C-4B1E-B19D-F2A3280585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83" y="940499"/>
            <a:ext cx="11903242" cy="5802196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Ответы на вопросы комиссии</a:t>
            </a:r>
            <a:endParaRPr lang="ru-RU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E8CFA52D-E3FC-41CD-90D2-6F3F593890B8}"/>
              </a:ext>
            </a:extLst>
          </p:cNvPr>
          <p:cNvSpPr txBox="1">
            <a:spLocks/>
          </p:cNvSpPr>
          <p:nvPr/>
        </p:nvSpPr>
        <p:spPr>
          <a:xfrm>
            <a:off x="146384" y="115304"/>
            <a:ext cx="11903242" cy="612607"/>
          </a:xfrm>
          <a:prstGeom prst="rect">
            <a:avLst/>
          </a:prstGeom>
          <a:solidFill>
            <a:srgbClr val="FFFFFF"/>
          </a:solidFill>
          <a:ln w="38100" cap="sq">
            <a:solidFill>
              <a:srgbClr val="404040"/>
            </a:solidFill>
            <a:miter lim="800000"/>
          </a:ln>
        </p:spPr>
        <p:txBody>
          <a:bodyPr vert="horz" lIns="274320" tIns="182880" rIns="274320" bIns="182880" rtlCol="0" anchor="ctr" anchorCtr="1">
            <a:normAutofit fontScale="2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ru-RU" b="1" spc="0" dirty="0">
                <a:latin typeface="Arial" panose="020B0604020202020204" pitchFamily="34" charset="0"/>
                <a:cs typeface="Arial" panose="020B0604020202020204" pitchFamily="34" charset="0"/>
              </a:rPr>
              <a:t>Санкт-петербургское государственное бюджетное профессиональное образовательное учреждение</a:t>
            </a:r>
          </a:p>
          <a:p>
            <a:pPr>
              <a:lnSpc>
                <a:spcPct val="120000"/>
              </a:lnSpc>
            </a:pPr>
            <a:endParaRPr lang="ru-RU" b="1" spc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ru-RU" b="1" spc="0" dirty="0">
                <a:latin typeface="Arial" panose="020B0604020202020204" pitchFamily="34" charset="0"/>
                <a:cs typeface="Arial" panose="020B0604020202020204" pitchFamily="34" charset="0"/>
              </a:rPr>
              <a:t>«Ижорский политехнический колледж»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D8A7F3A-CBA1-45AC-843B-C0D8F7C2B37C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486" y="151400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8681F9A7-EB38-4E88-9F25-C7687863235B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6099" y="153401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3170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14:prism dir="d" isContent="1"/>
      </p:transition>
    </mc:Choice>
    <mc:Fallback xmlns="">
      <p:transition spd="slow" advClick="0">
        <p:fade/>
      </p:transition>
    </mc:Fallback>
  </mc:AlternateContent>
</p:sld>
</file>

<file path=ppt/theme/theme1.xml><?xml version="1.0" encoding="utf-8"?>
<a:theme xmlns:a="http://schemas.openxmlformats.org/drawingml/2006/main" name="Посылка">
  <a:themeElements>
    <a:clrScheme name="Посылка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A6B727"/>
      </a:accent1>
      <a:accent2>
        <a:srgbClr val="418AB3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Посылка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Посылка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A425FB89-E954-4A2A-81DC-D90804A94DB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Посылка">
    <a:dk1>
      <a:srgbClr val="000000"/>
    </a:dk1>
    <a:lt1>
      <a:sysClr val="window" lastClr="FFFFFF"/>
    </a:lt1>
    <a:dk2>
      <a:srgbClr val="5E5E5E"/>
    </a:dk2>
    <a:lt2>
      <a:srgbClr val="DDDDDD"/>
    </a:lt2>
    <a:accent1>
      <a:srgbClr val="A6B727"/>
    </a:accent1>
    <a:accent2>
      <a:srgbClr val="418AB3"/>
    </a:accent2>
    <a:accent3>
      <a:srgbClr val="F69200"/>
    </a:accent3>
    <a:accent4>
      <a:srgbClr val="838383"/>
    </a:accent4>
    <a:accent5>
      <a:srgbClr val="FEC306"/>
    </a:accent5>
    <a:accent6>
      <a:srgbClr val="DF5327"/>
    </a:accent6>
    <a:hlink>
      <a:srgbClr val="F59E00"/>
    </a:hlink>
    <a:folHlink>
      <a:srgbClr val="B2B2B2"/>
    </a:folHlink>
  </a:clrScheme>
</a:themeOverride>
</file>

<file path=ppt/theme/themeOverride2.xml><?xml version="1.0" encoding="utf-8"?>
<a:themeOverride xmlns:a="http://schemas.openxmlformats.org/drawingml/2006/main">
  <a:clrScheme name="Посылка">
    <a:dk1>
      <a:srgbClr val="000000"/>
    </a:dk1>
    <a:lt1>
      <a:sysClr val="window" lastClr="FFFFFF"/>
    </a:lt1>
    <a:dk2>
      <a:srgbClr val="5E5E5E"/>
    </a:dk2>
    <a:lt2>
      <a:srgbClr val="DDDDDD"/>
    </a:lt2>
    <a:accent1>
      <a:srgbClr val="A6B727"/>
    </a:accent1>
    <a:accent2>
      <a:srgbClr val="418AB3"/>
    </a:accent2>
    <a:accent3>
      <a:srgbClr val="F69200"/>
    </a:accent3>
    <a:accent4>
      <a:srgbClr val="838383"/>
    </a:accent4>
    <a:accent5>
      <a:srgbClr val="FEC306"/>
    </a:accent5>
    <a:accent6>
      <a:srgbClr val="DF5327"/>
    </a:accent6>
    <a:hlink>
      <a:srgbClr val="F59E00"/>
    </a:hlink>
    <a:folHlink>
      <a:srgbClr val="B2B2B2"/>
    </a:folHlink>
  </a:clrScheme>
</a:themeOverride>
</file>

<file path=ppt/theme/themeOverride3.xml><?xml version="1.0" encoding="utf-8"?>
<a:themeOverride xmlns:a="http://schemas.openxmlformats.org/drawingml/2006/main">
  <a:clrScheme name="Посылка">
    <a:dk1>
      <a:srgbClr val="000000"/>
    </a:dk1>
    <a:lt1>
      <a:sysClr val="window" lastClr="FFFFFF"/>
    </a:lt1>
    <a:dk2>
      <a:srgbClr val="5E5E5E"/>
    </a:dk2>
    <a:lt2>
      <a:srgbClr val="DDDDDD"/>
    </a:lt2>
    <a:accent1>
      <a:srgbClr val="A6B727"/>
    </a:accent1>
    <a:accent2>
      <a:srgbClr val="418AB3"/>
    </a:accent2>
    <a:accent3>
      <a:srgbClr val="F69200"/>
    </a:accent3>
    <a:accent4>
      <a:srgbClr val="838383"/>
    </a:accent4>
    <a:accent5>
      <a:srgbClr val="FEC306"/>
    </a:accent5>
    <a:accent6>
      <a:srgbClr val="DF5327"/>
    </a:accent6>
    <a:hlink>
      <a:srgbClr val="F59E00"/>
    </a:hlink>
    <a:folHlink>
      <a:srgbClr val="B2B2B2"/>
    </a:folHlink>
  </a:clrScheme>
</a:themeOverride>
</file>

<file path=ppt/theme/themeOverride4.xml><?xml version="1.0" encoding="utf-8"?>
<a:themeOverride xmlns:a="http://schemas.openxmlformats.org/drawingml/2006/main">
  <a:clrScheme name="Посылка">
    <a:dk1>
      <a:srgbClr val="000000"/>
    </a:dk1>
    <a:lt1>
      <a:sysClr val="window" lastClr="FFFFFF"/>
    </a:lt1>
    <a:dk2>
      <a:srgbClr val="5E5E5E"/>
    </a:dk2>
    <a:lt2>
      <a:srgbClr val="DDDDDD"/>
    </a:lt2>
    <a:accent1>
      <a:srgbClr val="A6B727"/>
    </a:accent1>
    <a:accent2>
      <a:srgbClr val="418AB3"/>
    </a:accent2>
    <a:accent3>
      <a:srgbClr val="F69200"/>
    </a:accent3>
    <a:accent4>
      <a:srgbClr val="838383"/>
    </a:accent4>
    <a:accent5>
      <a:srgbClr val="FEC306"/>
    </a:accent5>
    <a:accent6>
      <a:srgbClr val="DF5327"/>
    </a:accent6>
    <a:hlink>
      <a:srgbClr val="F59E00"/>
    </a:hlink>
    <a:folHlink>
      <a:srgbClr val="B2B2B2"/>
    </a:folHlink>
  </a:clrScheme>
</a:themeOverride>
</file>

<file path=ppt/theme/themeOverride5.xml><?xml version="1.0" encoding="utf-8"?>
<a:themeOverride xmlns:a="http://schemas.openxmlformats.org/drawingml/2006/main">
  <a:clrScheme name="Посылка">
    <a:dk1>
      <a:srgbClr val="000000"/>
    </a:dk1>
    <a:lt1>
      <a:sysClr val="window" lastClr="FFFFFF"/>
    </a:lt1>
    <a:dk2>
      <a:srgbClr val="5E5E5E"/>
    </a:dk2>
    <a:lt2>
      <a:srgbClr val="DDDDDD"/>
    </a:lt2>
    <a:accent1>
      <a:srgbClr val="A6B727"/>
    </a:accent1>
    <a:accent2>
      <a:srgbClr val="418AB3"/>
    </a:accent2>
    <a:accent3>
      <a:srgbClr val="F69200"/>
    </a:accent3>
    <a:accent4>
      <a:srgbClr val="838383"/>
    </a:accent4>
    <a:accent5>
      <a:srgbClr val="FEC306"/>
    </a:accent5>
    <a:accent6>
      <a:srgbClr val="DF5327"/>
    </a:accent6>
    <a:hlink>
      <a:srgbClr val="F59E00"/>
    </a:hlink>
    <a:folHlink>
      <a:srgbClr val="B2B2B2"/>
    </a:folHlink>
  </a:clrScheme>
</a:themeOverride>
</file>

<file path=ppt/theme/themeOverride6.xml><?xml version="1.0" encoding="utf-8"?>
<a:themeOverride xmlns:a="http://schemas.openxmlformats.org/drawingml/2006/main">
  <a:clrScheme name="Посылка">
    <a:dk1>
      <a:srgbClr val="000000"/>
    </a:dk1>
    <a:lt1>
      <a:sysClr val="window" lastClr="FFFFFF"/>
    </a:lt1>
    <a:dk2>
      <a:srgbClr val="5E5E5E"/>
    </a:dk2>
    <a:lt2>
      <a:srgbClr val="DDDDDD"/>
    </a:lt2>
    <a:accent1>
      <a:srgbClr val="A6B727"/>
    </a:accent1>
    <a:accent2>
      <a:srgbClr val="418AB3"/>
    </a:accent2>
    <a:accent3>
      <a:srgbClr val="F69200"/>
    </a:accent3>
    <a:accent4>
      <a:srgbClr val="838383"/>
    </a:accent4>
    <a:accent5>
      <a:srgbClr val="FEC306"/>
    </a:accent5>
    <a:accent6>
      <a:srgbClr val="DF5327"/>
    </a:accent6>
    <a:hlink>
      <a:srgbClr val="F59E00"/>
    </a:hlink>
    <a:folHlink>
      <a:srgbClr val="B2B2B2"/>
    </a:folHlink>
  </a:clrScheme>
</a:themeOverride>
</file>

<file path=ppt/theme/themeOverride7.xml><?xml version="1.0" encoding="utf-8"?>
<a:themeOverride xmlns:a="http://schemas.openxmlformats.org/drawingml/2006/main">
  <a:clrScheme name="Посылка">
    <a:dk1>
      <a:srgbClr val="000000"/>
    </a:dk1>
    <a:lt1>
      <a:sysClr val="window" lastClr="FFFFFF"/>
    </a:lt1>
    <a:dk2>
      <a:srgbClr val="5E5E5E"/>
    </a:dk2>
    <a:lt2>
      <a:srgbClr val="DDDDDD"/>
    </a:lt2>
    <a:accent1>
      <a:srgbClr val="A6B727"/>
    </a:accent1>
    <a:accent2>
      <a:srgbClr val="418AB3"/>
    </a:accent2>
    <a:accent3>
      <a:srgbClr val="F69200"/>
    </a:accent3>
    <a:accent4>
      <a:srgbClr val="838383"/>
    </a:accent4>
    <a:accent5>
      <a:srgbClr val="FEC306"/>
    </a:accent5>
    <a:accent6>
      <a:srgbClr val="DF5327"/>
    </a:accent6>
    <a:hlink>
      <a:srgbClr val="F59E00"/>
    </a:hlink>
    <a:folHlink>
      <a:srgbClr val="B2B2B2"/>
    </a:folHlink>
  </a:clrScheme>
</a:themeOverride>
</file>

<file path=ppt/theme/themeOverride8.xml><?xml version="1.0" encoding="utf-8"?>
<a:themeOverride xmlns:a="http://schemas.openxmlformats.org/drawingml/2006/main">
  <a:clrScheme name="Посылка">
    <a:dk1>
      <a:srgbClr val="000000"/>
    </a:dk1>
    <a:lt1>
      <a:sysClr val="window" lastClr="FFFFFF"/>
    </a:lt1>
    <a:dk2>
      <a:srgbClr val="5E5E5E"/>
    </a:dk2>
    <a:lt2>
      <a:srgbClr val="DDDDDD"/>
    </a:lt2>
    <a:accent1>
      <a:srgbClr val="A6B727"/>
    </a:accent1>
    <a:accent2>
      <a:srgbClr val="418AB3"/>
    </a:accent2>
    <a:accent3>
      <a:srgbClr val="F69200"/>
    </a:accent3>
    <a:accent4>
      <a:srgbClr val="838383"/>
    </a:accent4>
    <a:accent5>
      <a:srgbClr val="FEC306"/>
    </a:accent5>
    <a:accent6>
      <a:srgbClr val="DF5327"/>
    </a:accent6>
    <a:hlink>
      <a:srgbClr val="F59E00"/>
    </a:hlink>
    <a:folHlink>
      <a:srgbClr val="B2B2B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806</TotalTime>
  <Words>760</Words>
  <Application>Microsoft Office PowerPoint</Application>
  <PresentationFormat>Широкоэкранный</PresentationFormat>
  <Paragraphs>132</Paragraphs>
  <Slides>17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3" baseType="lpstr">
      <vt:lpstr>Aptos</vt:lpstr>
      <vt:lpstr>Arial</vt:lpstr>
      <vt:lpstr>Consolas</vt:lpstr>
      <vt:lpstr>Corbel</vt:lpstr>
      <vt:lpstr>Gill Sans MT</vt:lpstr>
      <vt:lpstr>Посылка</vt:lpstr>
      <vt:lpstr>Курсовая работа  МДК 11.01 Технология разработки и защиты баз данных  База данных аренды жилья</vt:lpstr>
      <vt:lpstr>Актуальность темы</vt:lpstr>
      <vt:lpstr>Цель и задачи работы</vt:lpstr>
      <vt:lpstr>Анализ предметной области</vt:lpstr>
      <vt:lpstr>Анализ предметной области</vt:lpstr>
      <vt:lpstr>выбор технологий разработки</vt:lpstr>
      <vt:lpstr>Проектирование базы данных</vt:lpstr>
      <vt:lpstr>Логическая модель базы данных</vt:lpstr>
      <vt:lpstr>физическая модель базы данных</vt:lpstr>
      <vt:lpstr>Реализация бизнес-логики в базе данных</vt:lpstr>
      <vt:lpstr>Архитектура веб-приложения</vt:lpstr>
      <vt:lpstr>Реализация бэкенд</vt:lpstr>
      <vt:lpstr>Интерфейс веб-приложения</vt:lpstr>
      <vt:lpstr>Администрирование и защита данных</vt:lpstr>
      <vt:lpstr>Тестирование и оптимизация</vt:lpstr>
      <vt:lpstr>Результаты работы</vt:lpstr>
      <vt:lpstr>Ответы на вопросы комиссии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Teacher</dc:creator>
  <cp:lastModifiedBy>Никита Тихоненков</cp:lastModifiedBy>
  <cp:revision>83</cp:revision>
  <dcterms:created xsi:type="dcterms:W3CDTF">2025-03-28T06:43:39Z</dcterms:created>
  <dcterms:modified xsi:type="dcterms:W3CDTF">2026-04-12T16:52:08Z</dcterms:modified>
</cp:coreProperties>
</file>